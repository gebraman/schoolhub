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3"/>
  </p:notesMasterIdLst>
  <p:sldIdLst>
    <p:sldId id="296" r:id="rId2"/>
    <p:sldId id="257" r:id="rId3"/>
    <p:sldId id="297" r:id="rId4"/>
    <p:sldId id="259" r:id="rId5"/>
    <p:sldId id="29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8" r:id="rId42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644" autoAdjust="0"/>
  </p:normalViewPr>
  <p:slideViewPr>
    <p:cSldViewPr>
      <p:cViewPr varScale="1">
        <p:scale>
          <a:sx n="52" d="100"/>
          <a:sy n="52" d="100"/>
        </p:scale>
        <p:origin x="1204" y="5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52DA4-F4A5-4D89-8302-401EEE531182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72085-5986-4BA5-8860-DFFE3CEB7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21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NBE Requirements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dirty="0"/>
              <a:t>Any licensed commercial bank shall maintain liquid assets of not less than fifteen percent (15%) of its net current liabilities.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dirty="0"/>
              <a:t>The minimum paid up capital required to obtain a banking business license shall be Birr 500 million (birr five hundred million), which shall be fully paid in cash and deposited in a bank in the name and to the account of the bank under establishment.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372085-5986-4BA5-8860-DFFE3CEB72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69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72085-5986-4BA5-8860-DFFE3CEB720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8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lIns="68569" tIns="34285" rIns="68569" bIns="34285"/>
          <a:lstStyle/>
          <a:p>
            <a:endParaRPr lang="en-US" sz="1375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25"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75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60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49" indent="0">
              <a:buNone/>
              <a:defRPr sz="1375"/>
            </a:lvl2pPr>
            <a:lvl3pPr marL="685699" indent="0">
              <a:buNone/>
              <a:defRPr sz="1188"/>
            </a:lvl3pPr>
            <a:lvl4pPr marL="1028548" indent="0">
              <a:buNone/>
              <a:defRPr sz="1063"/>
            </a:lvl4pPr>
            <a:lvl5pPr marL="1371397" indent="0">
              <a:buNone/>
              <a:defRPr sz="1063"/>
            </a:lvl5pPr>
            <a:lvl6pPr marL="1714246" indent="0">
              <a:buNone/>
              <a:defRPr sz="1063"/>
            </a:lvl6pPr>
            <a:lvl7pPr marL="2057095" indent="0">
              <a:buNone/>
              <a:defRPr sz="1063"/>
            </a:lvl7pPr>
            <a:lvl8pPr marL="2399944" indent="0">
              <a:buNone/>
              <a:defRPr sz="1063"/>
            </a:lvl8pPr>
            <a:lvl9pPr marL="2742794" indent="0">
              <a:buNone/>
              <a:defRPr sz="10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39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1"/>
            <a:ext cx="5232400" cy="4267200"/>
          </a:xfrm>
        </p:spPr>
        <p:txBody>
          <a:bodyPr/>
          <a:lstStyle>
            <a:lvl1pPr>
              <a:defRPr sz="2125"/>
            </a:lvl1pPr>
            <a:lvl2pPr>
              <a:defRPr sz="1813"/>
            </a:lvl2pPr>
            <a:lvl3pPr>
              <a:defRPr sz="1500"/>
            </a:lvl3pPr>
            <a:lvl4pPr>
              <a:defRPr sz="1375"/>
            </a:lvl4pPr>
            <a:lvl5pPr>
              <a:defRPr sz="1375"/>
            </a:lvl5pPr>
            <a:lvl6pPr>
              <a:defRPr sz="1375"/>
            </a:lvl6pPr>
            <a:lvl7pPr>
              <a:defRPr sz="1375"/>
            </a:lvl7pPr>
            <a:lvl8pPr>
              <a:defRPr sz="1375"/>
            </a:lvl8pPr>
            <a:lvl9pPr>
              <a:defRPr sz="13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1"/>
            <a:ext cx="5232400" cy="4267200"/>
          </a:xfrm>
        </p:spPr>
        <p:txBody>
          <a:bodyPr/>
          <a:lstStyle>
            <a:lvl1pPr>
              <a:defRPr sz="2125"/>
            </a:lvl1pPr>
            <a:lvl2pPr>
              <a:defRPr sz="1813"/>
            </a:lvl2pPr>
            <a:lvl3pPr>
              <a:defRPr sz="1500"/>
            </a:lvl3pPr>
            <a:lvl4pPr>
              <a:defRPr sz="1375"/>
            </a:lvl4pPr>
            <a:lvl5pPr>
              <a:defRPr sz="1375"/>
            </a:lvl5pPr>
            <a:lvl6pPr>
              <a:defRPr sz="1375"/>
            </a:lvl6pPr>
            <a:lvl7pPr>
              <a:defRPr sz="1375"/>
            </a:lvl7pPr>
            <a:lvl8pPr>
              <a:defRPr sz="1375"/>
            </a:lvl8pPr>
            <a:lvl9pPr>
              <a:defRPr sz="13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79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13" b="1"/>
            </a:lvl1pPr>
            <a:lvl2pPr marL="342849" indent="0">
              <a:buNone/>
              <a:defRPr sz="1500" b="1"/>
            </a:lvl2pPr>
            <a:lvl3pPr marL="685699" indent="0">
              <a:buNone/>
              <a:defRPr sz="1375" b="1"/>
            </a:lvl3pPr>
            <a:lvl4pPr marL="1028548" indent="0">
              <a:buNone/>
              <a:defRPr sz="1188" b="1"/>
            </a:lvl4pPr>
            <a:lvl5pPr marL="1371397" indent="0">
              <a:buNone/>
              <a:defRPr sz="1188" b="1"/>
            </a:lvl5pPr>
            <a:lvl6pPr marL="1714246" indent="0">
              <a:buNone/>
              <a:defRPr sz="1188" b="1"/>
            </a:lvl6pPr>
            <a:lvl7pPr marL="2057095" indent="0">
              <a:buNone/>
              <a:defRPr sz="1188" b="1"/>
            </a:lvl7pPr>
            <a:lvl8pPr marL="2399944" indent="0">
              <a:buNone/>
              <a:defRPr sz="1188" b="1"/>
            </a:lvl8pPr>
            <a:lvl9pPr marL="2742794" indent="0">
              <a:buNone/>
              <a:defRPr sz="118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13"/>
            </a:lvl1pPr>
            <a:lvl2pPr>
              <a:defRPr sz="1500"/>
            </a:lvl2pPr>
            <a:lvl3pPr>
              <a:defRPr sz="1375"/>
            </a:lvl3pPr>
            <a:lvl4pPr>
              <a:defRPr sz="1188"/>
            </a:lvl4pPr>
            <a:lvl5pPr>
              <a:defRPr sz="1188"/>
            </a:lvl5pPr>
            <a:lvl6pPr>
              <a:defRPr sz="1188"/>
            </a:lvl6pPr>
            <a:lvl7pPr>
              <a:defRPr sz="1188"/>
            </a:lvl7pPr>
            <a:lvl8pPr>
              <a:defRPr sz="1188"/>
            </a:lvl8pPr>
            <a:lvl9pPr>
              <a:defRPr sz="118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13" b="1"/>
            </a:lvl1pPr>
            <a:lvl2pPr marL="342849" indent="0">
              <a:buNone/>
              <a:defRPr sz="1500" b="1"/>
            </a:lvl2pPr>
            <a:lvl3pPr marL="685699" indent="0">
              <a:buNone/>
              <a:defRPr sz="1375" b="1"/>
            </a:lvl3pPr>
            <a:lvl4pPr marL="1028548" indent="0">
              <a:buNone/>
              <a:defRPr sz="1188" b="1"/>
            </a:lvl4pPr>
            <a:lvl5pPr marL="1371397" indent="0">
              <a:buNone/>
              <a:defRPr sz="1188" b="1"/>
            </a:lvl5pPr>
            <a:lvl6pPr marL="1714246" indent="0">
              <a:buNone/>
              <a:defRPr sz="1188" b="1"/>
            </a:lvl6pPr>
            <a:lvl7pPr marL="2057095" indent="0">
              <a:buNone/>
              <a:defRPr sz="1188" b="1"/>
            </a:lvl7pPr>
            <a:lvl8pPr marL="2399944" indent="0">
              <a:buNone/>
              <a:defRPr sz="1188" b="1"/>
            </a:lvl8pPr>
            <a:lvl9pPr marL="2742794" indent="0">
              <a:buNone/>
              <a:defRPr sz="118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13"/>
            </a:lvl1pPr>
            <a:lvl2pPr>
              <a:defRPr sz="1500"/>
            </a:lvl2pPr>
            <a:lvl3pPr>
              <a:defRPr sz="1375"/>
            </a:lvl3pPr>
            <a:lvl4pPr>
              <a:defRPr sz="1188"/>
            </a:lvl4pPr>
            <a:lvl5pPr>
              <a:defRPr sz="1188"/>
            </a:lvl5pPr>
            <a:lvl6pPr>
              <a:defRPr sz="1188"/>
            </a:lvl6pPr>
            <a:lvl7pPr>
              <a:defRPr sz="1188"/>
            </a:lvl7pPr>
            <a:lvl8pPr>
              <a:defRPr sz="1188"/>
            </a:lvl8pPr>
            <a:lvl9pPr>
              <a:defRPr sz="118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90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92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133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375"/>
            </a:lvl1pPr>
            <a:lvl2pPr>
              <a:defRPr sz="2125"/>
            </a:lvl2pPr>
            <a:lvl3pPr>
              <a:defRPr sz="1813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084" cy="4691063"/>
          </a:xfrm>
        </p:spPr>
        <p:txBody>
          <a:bodyPr/>
          <a:lstStyle>
            <a:lvl1pPr marL="0" indent="0">
              <a:buNone/>
              <a:defRPr sz="1063"/>
            </a:lvl1pPr>
            <a:lvl2pPr marL="342849" indent="0">
              <a:buNone/>
              <a:defRPr sz="875"/>
            </a:lvl2pPr>
            <a:lvl3pPr marL="685699" indent="0">
              <a:buNone/>
              <a:defRPr sz="750"/>
            </a:lvl3pPr>
            <a:lvl4pPr marL="1028548" indent="0">
              <a:buNone/>
              <a:defRPr sz="688"/>
            </a:lvl4pPr>
            <a:lvl5pPr marL="1371397" indent="0">
              <a:buNone/>
              <a:defRPr sz="688"/>
            </a:lvl5pPr>
            <a:lvl6pPr marL="1714246" indent="0">
              <a:buNone/>
              <a:defRPr sz="688"/>
            </a:lvl6pPr>
            <a:lvl7pPr marL="2057095" indent="0">
              <a:buNone/>
              <a:defRPr sz="688"/>
            </a:lvl7pPr>
            <a:lvl8pPr marL="2399944" indent="0">
              <a:buNone/>
              <a:defRPr sz="688"/>
            </a:lvl8pPr>
            <a:lvl9pPr marL="2742794" indent="0">
              <a:buNone/>
              <a:defRPr sz="6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60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375"/>
            </a:lvl1pPr>
            <a:lvl2pPr marL="342849" indent="0">
              <a:buNone/>
              <a:defRPr sz="2125"/>
            </a:lvl2pPr>
            <a:lvl3pPr marL="685699" indent="0">
              <a:buNone/>
              <a:defRPr sz="1813"/>
            </a:lvl3pPr>
            <a:lvl4pPr marL="1028548" indent="0">
              <a:buNone/>
              <a:defRPr sz="1500"/>
            </a:lvl4pPr>
            <a:lvl5pPr marL="1371397" indent="0">
              <a:buNone/>
              <a:defRPr sz="1500"/>
            </a:lvl5pPr>
            <a:lvl6pPr marL="1714246" indent="0">
              <a:buNone/>
              <a:defRPr sz="1500"/>
            </a:lvl6pPr>
            <a:lvl7pPr marL="2057095" indent="0">
              <a:buNone/>
              <a:defRPr sz="1500"/>
            </a:lvl7pPr>
            <a:lvl8pPr marL="2399944" indent="0">
              <a:buNone/>
              <a:defRPr sz="1500"/>
            </a:lvl8pPr>
            <a:lvl9pPr marL="2742794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063"/>
            </a:lvl1pPr>
            <a:lvl2pPr marL="342849" indent="0">
              <a:buNone/>
              <a:defRPr sz="875"/>
            </a:lvl2pPr>
            <a:lvl3pPr marL="685699" indent="0">
              <a:buNone/>
              <a:defRPr sz="750"/>
            </a:lvl3pPr>
            <a:lvl4pPr marL="1028548" indent="0">
              <a:buNone/>
              <a:defRPr sz="688"/>
            </a:lvl4pPr>
            <a:lvl5pPr marL="1371397" indent="0">
              <a:buNone/>
              <a:defRPr sz="688"/>
            </a:lvl5pPr>
            <a:lvl6pPr marL="1714246" indent="0">
              <a:buNone/>
              <a:defRPr sz="688"/>
            </a:lvl6pPr>
            <a:lvl7pPr marL="2057095" indent="0">
              <a:buNone/>
              <a:defRPr sz="688"/>
            </a:lvl7pPr>
            <a:lvl8pPr marL="2399944" indent="0">
              <a:buNone/>
              <a:defRPr sz="688"/>
            </a:lvl8pPr>
            <a:lvl9pPr marL="2742794" indent="0">
              <a:buNone/>
              <a:defRPr sz="6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25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895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1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1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344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152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447803"/>
            <a:ext cx="4775200" cy="3840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447803"/>
            <a:ext cx="4775200" cy="38401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53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3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9711" tIns="54856" rIns="109711" bIns="54856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1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9711" tIns="54856" rIns="109711" bIns="548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6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lIns="68569" tIns="34285" rIns="68569" bIns="34285"/>
          <a:lstStyle/>
          <a:p>
            <a:endParaRPr lang="en-US" sz="1375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69" tIns="34285" rIns="68569" bIns="34285"/>
          <a:lstStyle/>
          <a:p>
            <a:endParaRPr lang="en-US" sz="1375"/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9711" tIns="54856" rIns="109711" bIns="5485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875">
                <a:cs typeface="Arial" charset="0"/>
              </a:defRPr>
            </a:lvl1pPr>
          </a:lstStyle>
          <a:p>
            <a:fld id="{1D8BD707-D9CF-40AE-B4C6-C98DA3205C09}" type="datetimeFigureOut">
              <a:rPr lang="en-US" smtClean="0"/>
              <a:t>12/12/2024</a:t>
            </a:fld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9711" tIns="54856" rIns="109711" bIns="5485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875">
                <a:cs typeface="Arial" charset="0"/>
              </a:defRPr>
            </a:lvl1pPr>
          </a:lstStyle>
          <a:p>
            <a:endParaRPr lang="en-GB"/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9711" tIns="54856" rIns="109711" bIns="5485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75"/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76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75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75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75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75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75">
          <a:solidFill>
            <a:schemeClr val="tx2"/>
          </a:solidFill>
          <a:latin typeface="Verdana" pitchFamily="34" charset="0"/>
          <a:cs typeface="Arial" charset="0"/>
        </a:defRPr>
      </a:lvl5pPr>
      <a:lvl6pPr marL="342849" algn="l" rtl="0" eaLnBrk="1" fontAlgn="base" hangingPunct="1">
        <a:spcBef>
          <a:spcPct val="0"/>
        </a:spcBef>
        <a:spcAft>
          <a:spcPct val="0"/>
        </a:spcAft>
        <a:defRPr sz="2875">
          <a:solidFill>
            <a:schemeClr val="tx2"/>
          </a:solidFill>
          <a:latin typeface="Verdana" pitchFamily="34" charset="0"/>
          <a:cs typeface="Arial" charset="0"/>
        </a:defRPr>
      </a:lvl6pPr>
      <a:lvl7pPr marL="685699" algn="l" rtl="0" eaLnBrk="1" fontAlgn="base" hangingPunct="1">
        <a:spcBef>
          <a:spcPct val="0"/>
        </a:spcBef>
        <a:spcAft>
          <a:spcPct val="0"/>
        </a:spcAft>
        <a:defRPr sz="2875">
          <a:solidFill>
            <a:schemeClr val="tx2"/>
          </a:solidFill>
          <a:latin typeface="Verdana" pitchFamily="34" charset="0"/>
          <a:cs typeface="Arial" charset="0"/>
        </a:defRPr>
      </a:lvl7pPr>
      <a:lvl8pPr marL="1028548" algn="l" rtl="0" eaLnBrk="1" fontAlgn="base" hangingPunct="1">
        <a:spcBef>
          <a:spcPct val="0"/>
        </a:spcBef>
        <a:spcAft>
          <a:spcPct val="0"/>
        </a:spcAft>
        <a:defRPr sz="2875">
          <a:solidFill>
            <a:schemeClr val="tx2"/>
          </a:solidFill>
          <a:latin typeface="Verdana" pitchFamily="34" charset="0"/>
          <a:cs typeface="Arial" charset="0"/>
        </a:defRPr>
      </a:lvl8pPr>
      <a:lvl9pPr marL="1371397" algn="l" rtl="0" eaLnBrk="1" fontAlgn="base" hangingPunct="1">
        <a:spcBef>
          <a:spcPct val="0"/>
        </a:spcBef>
        <a:spcAft>
          <a:spcPct val="0"/>
        </a:spcAft>
        <a:defRPr sz="2875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352373" indent="-3523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250">
          <a:solidFill>
            <a:schemeClr val="tx1"/>
          </a:solidFill>
          <a:latin typeface="+mn-lt"/>
          <a:ea typeface="+mn-ea"/>
          <a:cs typeface="+mn-cs"/>
        </a:defRPr>
      </a:lvl1pPr>
      <a:lvl2pPr marL="680936" indent="-32737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1938">
          <a:solidFill>
            <a:schemeClr val="tx1"/>
          </a:solidFill>
          <a:latin typeface="+mn-lt"/>
          <a:cs typeface="+mn-cs"/>
        </a:defRPr>
      </a:lvl2pPr>
      <a:lvl3pPr marL="978549" indent="-29642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1750">
          <a:solidFill>
            <a:schemeClr val="tx1"/>
          </a:solidFill>
          <a:latin typeface="+mn-lt"/>
          <a:cs typeface="+mn-cs"/>
        </a:defRPr>
      </a:lvl3pPr>
      <a:lvl4pPr marL="1270209" indent="-29046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1500">
          <a:solidFill>
            <a:schemeClr val="tx1"/>
          </a:solidFill>
          <a:latin typeface="+mn-lt"/>
          <a:cs typeface="+mn-cs"/>
        </a:defRPr>
      </a:lvl4pPr>
      <a:lvl5pPr marL="1570201" indent="-29880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cs typeface="+mn-cs"/>
        </a:defRPr>
      </a:lvl5pPr>
      <a:lvl6pPr marL="1913051" indent="-29880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cs typeface="+mn-cs"/>
        </a:defRPr>
      </a:lvl6pPr>
      <a:lvl7pPr marL="2255900" indent="-29880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cs typeface="+mn-cs"/>
        </a:defRPr>
      </a:lvl7pPr>
      <a:lvl8pPr marL="2598749" indent="-29880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cs typeface="+mn-cs"/>
        </a:defRPr>
      </a:lvl8pPr>
      <a:lvl9pPr marL="2941598" indent="-29880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699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1pPr>
      <a:lvl2pPr marL="342849" algn="l" defTabSz="685699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2pPr>
      <a:lvl3pPr marL="685699" algn="l" defTabSz="685699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548" algn="l" defTabSz="685699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397" algn="l" defTabSz="685699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246" algn="l" defTabSz="685699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095" algn="l" defTabSz="685699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7pPr>
      <a:lvl8pPr marL="2399944" algn="l" defTabSz="685699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8pPr>
      <a:lvl9pPr marL="2742794" algn="l" defTabSz="685699" rtl="0" eaLnBrk="1" latinLnBrk="0" hangingPunct="1">
        <a:defRPr sz="13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.nbebank.com/directives/bankingbusiness1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914400"/>
            <a:ext cx="6069965" cy="677108"/>
          </a:xfrm>
        </p:spPr>
        <p:txBody>
          <a:bodyPr/>
          <a:lstStyle/>
          <a:p>
            <a:pPr algn="ctr"/>
            <a:r>
              <a:rPr lang="en-US" sz="4400" dirty="0"/>
              <a:t>Chapter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131252" y="2438400"/>
            <a:ext cx="8074659" cy="55399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2523B"/>
                </a:solidFill>
                <a:ea typeface="+mj-ea"/>
              </a:rPr>
              <a:t>Financial Regulation</a:t>
            </a:r>
          </a:p>
        </p:txBody>
      </p:sp>
    </p:spTree>
    <p:extLst>
      <p:ext uri="{BB962C8B-B14F-4D97-AF65-F5344CB8AC3E}">
        <p14:creationId xmlns:p14="http://schemas.microsoft.com/office/powerpoint/2010/main" val="90188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914400"/>
            <a:ext cx="67030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25"/>
              </a:spcBef>
              <a:buClr>
                <a:srgbClr val="D2523B"/>
              </a:buClr>
            </a:pPr>
            <a:r>
              <a:rPr lang="en-US" sz="3200" b="1" spc="-100" dirty="0">
                <a:solidFill>
                  <a:srgbClr val="D2523B"/>
                </a:solidFill>
                <a:latin typeface="Arial"/>
                <a:cs typeface="Arial"/>
              </a:rPr>
              <a:t>Contents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7940" y="2086426"/>
            <a:ext cx="10327260" cy="197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lvl="1" indent="-342900">
              <a:spcBef>
                <a:spcPts val="100"/>
              </a:spcBef>
              <a:buClr>
                <a:schemeClr val="tx1"/>
              </a:buClr>
              <a:buSzPct val="85416"/>
              <a:buFont typeface="Wingdings" panose="05000000000000000000" pitchFamily="2" charset="2"/>
              <a:buChar char="v"/>
              <a:tabLst>
                <a:tab pos="195580" algn="l"/>
                <a:tab pos="1993900" algn="l"/>
                <a:tab pos="3725545" algn="l"/>
                <a:tab pos="4287520" algn="l"/>
                <a:tab pos="4678045" algn="l"/>
              </a:tabLst>
            </a:pP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What is financial regulation?</a:t>
            </a:r>
          </a:p>
          <a:p>
            <a:pPr marL="355600" lvl="1" indent="-342900">
              <a:spcBef>
                <a:spcPts val="100"/>
              </a:spcBef>
              <a:buClr>
                <a:schemeClr val="tx1"/>
              </a:buClr>
              <a:buSzPct val="85416"/>
              <a:buFont typeface="Wingdings" panose="05000000000000000000" pitchFamily="2" charset="2"/>
              <a:buChar char="v"/>
              <a:tabLst>
                <a:tab pos="195580" algn="l"/>
                <a:tab pos="1993900" algn="l"/>
                <a:tab pos="3725545" algn="l"/>
                <a:tab pos="4287520" algn="l"/>
                <a:tab pos="4678045" algn="l"/>
              </a:tabLst>
            </a:pP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Objectives of financial regulation</a:t>
            </a:r>
          </a:p>
          <a:p>
            <a:pPr marL="355600" lvl="1" indent="-342900">
              <a:spcBef>
                <a:spcPts val="100"/>
              </a:spcBef>
              <a:buClr>
                <a:schemeClr val="tx1"/>
              </a:buClr>
              <a:buSzPct val="85416"/>
              <a:buFont typeface="Wingdings" panose="05000000000000000000" pitchFamily="2" charset="2"/>
              <a:buChar char="v"/>
              <a:tabLst>
                <a:tab pos="195580" algn="l"/>
                <a:tab pos="1993900" algn="l"/>
                <a:tab pos="3725545" algn="l"/>
                <a:tab pos="4287520" algn="l"/>
                <a:tab pos="4678045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Asymmetric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Information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Rationale</a:t>
            </a: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 f</a:t>
            </a:r>
            <a:r>
              <a:rPr lang="en-GB" sz="2400" spc="-25" dirty="0">
                <a:solidFill>
                  <a:srgbClr val="292934"/>
                </a:solidFill>
                <a:latin typeface="Arial"/>
                <a:cs typeface="Arial"/>
              </a:rPr>
              <a:t>or </a:t>
            </a: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lang="en-GB" sz="2400" dirty="0"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Regulation</a:t>
            </a:r>
            <a:endParaRPr lang="en-GB" sz="2400" spc="-10" dirty="0">
              <a:latin typeface="Arial"/>
              <a:cs typeface="Arial"/>
            </a:endParaRPr>
          </a:p>
          <a:p>
            <a:pPr marL="355600" lvl="1" indent="-342900">
              <a:spcBef>
                <a:spcPts val="100"/>
              </a:spcBef>
              <a:buClr>
                <a:schemeClr val="tx1"/>
              </a:buClr>
              <a:buSzPct val="85416"/>
              <a:buFont typeface="Wingdings" panose="05000000000000000000" pitchFamily="2" charset="2"/>
              <a:buChar char="v"/>
              <a:tabLst>
                <a:tab pos="195580" algn="l"/>
                <a:tab pos="1993900" algn="l"/>
                <a:tab pos="3725545" algn="l"/>
                <a:tab pos="4287520" algn="l"/>
                <a:tab pos="4678045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Types</a:t>
            </a:r>
            <a:r>
              <a:rPr sz="2400" spc="-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Regulation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spcBef>
                <a:spcPts val="580"/>
              </a:spcBef>
              <a:buClr>
                <a:schemeClr val="tx1"/>
              </a:buClr>
              <a:buSzPct val="85416"/>
              <a:buFont typeface="Wingdings" panose="05000000000000000000" pitchFamily="2" charset="2"/>
              <a:buChar char="v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Markets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Regulations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Ethics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C28B59-829A-AA9E-5395-CEAE70A55F05}"/>
              </a:ext>
            </a:extLst>
          </p:cNvPr>
          <p:cNvSpPr txBox="1"/>
          <p:nvPr/>
        </p:nvSpPr>
        <p:spPr>
          <a:xfrm>
            <a:off x="533400" y="1971992"/>
            <a:ext cx="11277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i="1" dirty="0"/>
              <a:t>Financial regulation </a:t>
            </a:r>
            <a:r>
              <a:rPr lang="en-GB" sz="3200" dirty="0"/>
              <a:t>refers to the </a:t>
            </a:r>
            <a:r>
              <a:rPr lang="en-GB" sz="3200" dirty="0">
                <a:solidFill>
                  <a:srgbClr val="FF0000"/>
                </a:solidFill>
              </a:rPr>
              <a:t>oversight</a:t>
            </a:r>
            <a:r>
              <a:rPr lang="en-GB" sz="3200" dirty="0"/>
              <a:t> and </a:t>
            </a:r>
            <a:r>
              <a:rPr lang="en-GB" sz="3200" dirty="0">
                <a:solidFill>
                  <a:srgbClr val="FF0000"/>
                </a:solidFill>
              </a:rPr>
              <a:t>supervision</a:t>
            </a:r>
            <a:r>
              <a:rPr lang="en-GB" sz="3200" dirty="0"/>
              <a:t> of financial institutions, markets, and instruments by </a:t>
            </a:r>
            <a:r>
              <a:rPr lang="en-GB" sz="3200" dirty="0">
                <a:solidFill>
                  <a:srgbClr val="FF0000"/>
                </a:solidFill>
              </a:rPr>
              <a:t>government</a:t>
            </a:r>
            <a:r>
              <a:rPr lang="en-GB" sz="3200" dirty="0"/>
              <a:t> or </a:t>
            </a:r>
            <a:r>
              <a:rPr lang="en-GB" sz="3200" dirty="0">
                <a:solidFill>
                  <a:srgbClr val="FF0000"/>
                </a:solidFill>
              </a:rPr>
              <a:t>regulatory agencies </a:t>
            </a:r>
            <a:r>
              <a:rPr lang="en-GB" sz="3200" dirty="0"/>
              <a:t>to ensure stability, transparency, fairness, and consumer protection.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8A30D-3A65-6A9E-6D76-EC4B24D8D58C}"/>
              </a:ext>
            </a:extLst>
          </p:cNvPr>
          <p:cNvSpPr txBox="1"/>
          <p:nvPr/>
        </p:nvSpPr>
        <p:spPr>
          <a:xfrm>
            <a:off x="228600" y="9144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Financial regulation </a:t>
            </a:r>
          </a:p>
        </p:txBody>
      </p:sp>
    </p:spTree>
    <p:extLst>
      <p:ext uri="{BB962C8B-B14F-4D97-AF65-F5344CB8AC3E}">
        <p14:creationId xmlns:p14="http://schemas.microsoft.com/office/powerpoint/2010/main" val="47850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1981200"/>
            <a:ext cx="11430000" cy="31213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6350" indent="-182880" algn="just"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system</a:t>
            </a:r>
            <a:r>
              <a:rPr sz="2400" spc="11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among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most</a:t>
            </a:r>
            <a:r>
              <a:rPr sz="2400" spc="11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heavily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regulated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sectors</a:t>
            </a:r>
            <a:r>
              <a:rPr sz="24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2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economy,</a:t>
            </a:r>
            <a:r>
              <a:rPr sz="24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endParaRPr lang="en-US" sz="2400" spc="285" dirty="0">
              <a:solidFill>
                <a:srgbClr val="292934"/>
              </a:solidFill>
              <a:latin typeface="Arial"/>
              <a:cs typeface="Arial"/>
            </a:endParaRPr>
          </a:p>
          <a:p>
            <a:pPr marL="194945" marR="6350" lvl="8" indent="-182880" algn="just"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banks</a:t>
            </a:r>
            <a:r>
              <a:rPr sz="24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among</a:t>
            </a:r>
            <a:r>
              <a:rPr sz="2400" spc="2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most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heavily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regulated</a:t>
            </a:r>
            <a:r>
              <a:rPr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institutions.</a:t>
            </a:r>
            <a:endParaRPr sz="2400" dirty="0">
              <a:latin typeface="Arial"/>
              <a:cs typeface="Arial"/>
            </a:endParaRPr>
          </a:p>
          <a:p>
            <a:pPr marL="194945" marR="8890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Unfortunately,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regulatory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process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may</a:t>
            </a:r>
            <a:r>
              <a:rPr sz="2400" spc="10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2400" spc="10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always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work</a:t>
            </a:r>
            <a:r>
              <a:rPr sz="24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very</a:t>
            </a:r>
            <a:r>
              <a:rPr sz="24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well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evidenced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recent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global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financial crisis.</a:t>
            </a:r>
            <a:endParaRPr sz="2400" dirty="0">
              <a:latin typeface="Arial"/>
              <a:cs typeface="Arial"/>
            </a:endParaRPr>
          </a:p>
          <a:p>
            <a:pPr marL="194945" marR="5080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We</a:t>
            </a:r>
            <a:r>
              <a:rPr sz="24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spc="3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use</a:t>
            </a:r>
            <a:r>
              <a:rPr sz="24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economic</a:t>
            </a:r>
            <a:r>
              <a:rPr sz="2400" spc="3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analysis</a:t>
            </a:r>
            <a:r>
              <a:rPr sz="2400" spc="3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3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regulation</a:t>
            </a:r>
            <a:r>
              <a:rPr sz="24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explain</a:t>
            </a:r>
            <a:r>
              <a:rPr sz="2400" spc="3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2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worldwide</a:t>
            </a:r>
            <a:r>
              <a:rPr sz="2400" spc="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cris</a:t>
            </a: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consider</a:t>
            </a:r>
            <a:r>
              <a:rPr sz="24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how</a:t>
            </a:r>
            <a:r>
              <a:rPr sz="2400" spc="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regulatory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system</a:t>
            </a:r>
            <a:r>
              <a:rPr sz="2400" spc="11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reformed</a:t>
            </a:r>
            <a:r>
              <a:rPr sz="2400" spc="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prevent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future</a:t>
            </a:r>
            <a:r>
              <a:rPr sz="24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such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disasters.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BB3C1B-7732-D161-7724-D3B1CB80705A}"/>
              </a:ext>
            </a:extLst>
          </p:cNvPr>
          <p:cNvSpPr txBox="1"/>
          <p:nvPr/>
        </p:nvSpPr>
        <p:spPr>
          <a:xfrm>
            <a:off x="457200" y="990600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Financial regulation…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19475B-30A5-A13A-86C3-82855BF16F11}"/>
              </a:ext>
            </a:extLst>
          </p:cNvPr>
          <p:cNvSpPr txBox="1"/>
          <p:nvPr/>
        </p:nvSpPr>
        <p:spPr>
          <a:xfrm>
            <a:off x="304800" y="1828800"/>
            <a:ext cx="11658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i="1" dirty="0"/>
              <a:t>Stability</a:t>
            </a:r>
            <a:r>
              <a:rPr lang="en-GB" sz="2400" dirty="0"/>
              <a:t>: Prevent financial crises by ensuring systemic stability in the economy.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i="1" dirty="0"/>
              <a:t>Consumer Protection</a:t>
            </a:r>
            <a:r>
              <a:rPr lang="en-GB" sz="2400" dirty="0"/>
              <a:t>: Safeguard consumers from fraud, unfair practices, and exploitation.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i="1" dirty="0"/>
              <a:t>Transparency</a:t>
            </a:r>
            <a:r>
              <a:rPr lang="en-GB" sz="2400" dirty="0"/>
              <a:t>: Promote accurate and timely disclosure of financial information.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i="1" dirty="0"/>
              <a:t>Market Efficiency</a:t>
            </a:r>
            <a:r>
              <a:rPr lang="en-GB" sz="2400" dirty="0"/>
              <a:t>: Ensure efficient functioning of financial markets and promote fair competition.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i="1" dirty="0"/>
              <a:t>Monetary Policy Implementation</a:t>
            </a:r>
            <a:r>
              <a:rPr lang="en-GB" sz="2400" dirty="0"/>
              <a:t>: Regulate financial institutions to support the effective implementation of monetary policy.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i="1" dirty="0"/>
              <a:t>Prevention of Financial Crimes</a:t>
            </a:r>
            <a:r>
              <a:rPr lang="en-GB" sz="2400" dirty="0"/>
              <a:t>: Combat money laundering, fraud, and financing of terrorism.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902DE-9166-FE8A-35A1-29FD8861FAB1}"/>
              </a:ext>
            </a:extLst>
          </p:cNvPr>
          <p:cNvSpPr txBox="1"/>
          <p:nvPr/>
        </p:nvSpPr>
        <p:spPr>
          <a:xfrm>
            <a:off x="152400" y="914400"/>
            <a:ext cx="716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Objectives of Financial Regulation </a:t>
            </a:r>
          </a:p>
        </p:txBody>
      </p:sp>
    </p:spTree>
    <p:extLst>
      <p:ext uri="{BB962C8B-B14F-4D97-AF65-F5344CB8AC3E}">
        <p14:creationId xmlns:p14="http://schemas.microsoft.com/office/powerpoint/2010/main" val="288863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006170"/>
            <a:ext cx="937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0" dirty="0">
                <a:solidFill>
                  <a:srgbClr val="D2523B"/>
                </a:solidFill>
                <a:latin typeface="Arial"/>
                <a:cs typeface="Arial"/>
              </a:rPr>
              <a:t>Asymmetric</a:t>
            </a:r>
            <a:r>
              <a:rPr sz="2400" b="1" spc="-14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100" dirty="0">
                <a:solidFill>
                  <a:srgbClr val="D2523B"/>
                </a:solidFill>
                <a:latin typeface="Arial"/>
                <a:cs typeface="Arial"/>
              </a:rPr>
              <a:t>Information</a:t>
            </a:r>
            <a:r>
              <a:rPr sz="2400" b="1" spc="-31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60" dirty="0">
                <a:solidFill>
                  <a:srgbClr val="D2523B"/>
                </a:solidFill>
                <a:latin typeface="Arial"/>
                <a:cs typeface="Arial"/>
              </a:rPr>
              <a:t>As</a:t>
            </a:r>
            <a:r>
              <a:rPr sz="2400" b="1" spc="-25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523B"/>
                </a:solidFill>
                <a:latin typeface="Arial"/>
                <a:cs typeface="Arial"/>
              </a:rPr>
              <a:t>A</a:t>
            </a:r>
            <a:r>
              <a:rPr sz="2400" b="1" spc="-25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100" dirty="0">
                <a:solidFill>
                  <a:srgbClr val="D2523B"/>
                </a:solidFill>
                <a:latin typeface="Arial"/>
                <a:cs typeface="Arial"/>
              </a:rPr>
              <a:t>Rationale</a:t>
            </a:r>
            <a:r>
              <a:rPr sz="2400" b="1" spc="-19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70" dirty="0">
                <a:solidFill>
                  <a:srgbClr val="D2523B"/>
                </a:solidFill>
                <a:latin typeface="Arial"/>
                <a:cs typeface="Arial"/>
              </a:rPr>
              <a:t>For</a:t>
            </a:r>
            <a:r>
              <a:rPr sz="2400" b="1" spc="-16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D2523B"/>
                </a:solidFill>
                <a:latin typeface="Arial"/>
                <a:cs typeface="Arial"/>
              </a:rPr>
              <a:t>Financial</a:t>
            </a:r>
            <a:r>
              <a:rPr lang="en-GB" sz="2400" dirty="0"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D2523B"/>
                </a:solidFill>
                <a:latin typeface="Arial"/>
                <a:cs typeface="Arial"/>
              </a:rPr>
              <a:t>Regulation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2842" y="3162427"/>
            <a:ext cx="1108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adverse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2820" y="3528137"/>
            <a:ext cx="204088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519555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selection,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9940" y="3162428"/>
            <a:ext cx="6661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82880" algn="r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82880" algn="l"/>
                <a:tab pos="1033144" algn="l"/>
                <a:tab pos="2580640" algn="l"/>
                <a:tab pos="3157855" algn="l"/>
                <a:tab pos="5043170" algn="l"/>
              </a:tabLst>
            </a:pP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concepts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asymmetric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information,</a:t>
            </a:r>
            <a:endParaRPr sz="2400" dirty="0">
              <a:latin typeface="Arial"/>
              <a:cs typeface="Arial"/>
            </a:endParaRPr>
          </a:p>
          <a:p>
            <a:pPr marR="86995" algn="r"/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especially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33866" y="3528137"/>
            <a:ext cx="12979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045844" algn="l"/>
              </a:tabLst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useful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7258" y="3528137"/>
            <a:ext cx="26028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996950" algn="l"/>
                <a:tab pos="2147570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moral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hazard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endParaRPr sz="2400" dirty="0">
              <a:latin typeface="Arial"/>
              <a:cs typeface="Arial"/>
            </a:endParaRPr>
          </a:p>
          <a:p>
            <a:pPr marL="105410"/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why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6340" y="3894201"/>
            <a:ext cx="4624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167255" algn="l"/>
                <a:tab pos="3490595" algn="l"/>
              </a:tabLst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governments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pursue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2820" y="3894201"/>
            <a:ext cx="1958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understanding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regulation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80199-6747-CAE3-CF35-F13FC5971280}"/>
              </a:ext>
            </a:extLst>
          </p:cNvPr>
          <p:cNvSpPr txBox="1"/>
          <p:nvPr/>
        </p:nvSpPr>
        <p:spPr>
          <a:xfrm>
            <a:off x="381000" y="1679537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i="1" dirty="0"/>
              <a:t>Asymmetric information-</a:t>
            </a:r>
            <a:r>
              <a:rPr lang="en-GB" sz="2400" dirty="0"/>
              <a:t>the</a:t>
            </a:r>
            <a:r>
              <a:rPr lang="en-GB" sz="2400" b="1" i="1" dirty="0"/>
              <a:t> </a:t>
            </a:r>
            <a:r>
              <a:rPr lang="en-GB" sz="2400" dirty="0"/>
              <a:t>fact that different parties in a financial contract do not have the same information-leads to adverse selection and moral hazard problems, which have an important impact on our financial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838200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5" dirty="0"/>
              <a:t>Government</a:t>
            </a:r>
            <a:r>
              <a:rPr spc="-160" dirty="0"/>
              <a:t> </a:t>
            </a:r>
            <a:r>
              <a:rPr spc="-100" dirty="0"/>
              <a:t>Safety</a:t>
            </a:r>
            <a:r>
              <a:rPr spc="-145" dirty="0"/>
              <a:t> </a:t>
            </a:r>
            <a:r>
              <a:rPr spc="-25" dirty="0"/>
              <a:t>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625853"/>
            <a:ext cx="11506200" cy="31213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715" indent="-182880" algn="just">
              <a:spcBef>
                <a:spcPts val="100"/>
              </a:spcBef>
              <a:buClr>
                <a:schemeClr val="tx1"/>
              </a:buClr>
              <a:buSzPct val="102000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4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intermediaries,</a:t>
            </a:r>
            <a:r>
              <a:rPr sz="2400" spc="4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like</a:t>
            </a:r>
            <a:r>
              <a:rPr sz="2400" spc="4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banks,</a:t>
            </a:r>
            <a:r>
              <a:rPr sz="2400" spc="4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4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particularly</a:t>
            </a:r>
            <a:r>
              <a:rPr sz="2400" spc="4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well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suited</a:t>
            </a:r>
            <a:r>
              <a:rPr sz="2400" spc="8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8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solving</a:t>
            </a:r>
            <a:r>
              <a:rPr sz="2400" spc="8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adverse</a:t>
            </a:r>
            <a:r>
              <a:rPr sz="2400" spc="9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selection</a:t>
            </a:r>
            <a:r>
              <a:rPr sz="2400" spc="8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9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moral</a:t>
            </a:r>
            <a:r>
              <a:rPr sz="2400" spc="8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hazard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problems</a:t>
            </a:r>
            <a:r>
              <a:rPr sz="2400" spc="12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400" spc="11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400" spc="11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make</a:t>
            </a:r>
            <a:r>
              <a:rPr sz="2400" spc="1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private</a:t>
            </a:r>
            <a:r>
              <a:rPr sz="2400" spc="11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loans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help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avoid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free-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rider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problem.</a:t>
            </a:r>
            <a:endParaRPr sz="2400" dirty="0">
              <a:latin typeface="Arial"/>
              <a:cs typeface="Arial"/>
            </a:endParaRPr>
          </a:p>
          <a:p>
            <a:pPr marL="194945" marR="5080" indent="-182880" algn="just">
              <a:spcBef>
                <a:spcPts val="580"/>
              </a:spcBef>
              <a:buClr>
                <a:schemeClr val="tx1"/>
              </a:buClr>
              <a:buSzPct val="102000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However,</a:t>
            </a:r>
            <a:r>
              <a:rPr sz="24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2400" spc="4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solution</a:t>
            </a:r>
            <a:r>
              <a:rPr sz="2400" spc="4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48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free-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rider</a:t>
            </a:r>
            <a:r>
              <a:rPr sz="2400" spc="5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problem</a:t>
            </a:r>
            <a:r>
              <a:rPr sz="2400" spc="5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creates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another</a:t>
            </a:r>
            <a:r>
              <a:rPr sz="2400" spc="254" dirty="0">
                <a:solidFill>
                  <a:srgbClr val="FF0000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asymmetric</a:t>
            </a:r>
            <a:r>
              <a:rPr sz="2400" spc="254" dirty="0">
                <a:solidFill>
                  <a:srgbClr val="FF0000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information</a:t>
            </a:r>
            <a:r>
              <a:rPr sz="2400" spc="254" dirty="0">
                <a:solidFill>
                  <a:srgbClr val="FF0000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problem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26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because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depositors</a:t>
            </a:r>
            <a:r>
              <a:rPr sz="2400" spc="8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lack</a:t>
            </a:r>
            <a:r>
              <a:rPr sz="2400" spc="8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information</a:t>
            </a:r>
            <a:r>
              <a:rPr sz="2400" spc="7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about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quality</a:t>
            </a:r>
            <a:r>
              <a:rPr sz="2400" spc="8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7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these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private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loans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194945" marR="6350" indent="-182880" algn="just">
              <a:spcBef>
                <a:spcPts val="575"/>
              </a:spcBef>
              <a:buClr>
                <a:schemeClr val="tx1"/>
              </a:buClr>
              <a:buSzPct val="102000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2400" spc="2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asymmetric</a:t>
            </a:r>
            <a:r>
              <a:rPr sz="2400" spc="2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information</a:t>
            </a:r>
            <a:r>
              <a:rPr sz="2400" spc="2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problem</a:t>
            </a:r>
            <a:r>
              <a:rPr sz="2400" spc="2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leads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2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other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problems</a:t>
            </a:r>
            <a:r>
              <a:rPr sz="24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interfere</a:t>
            </a:r>
            <a:r>
              <a:rPr sz="24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proper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functioning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2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system.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825754"/>
            <a:ext cx="11734799" cy="43140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solidFill>
                  <a:srgbClr val="D2523B"/>
                </a:solidFill>
                <a:latin typeface="Arial"/>
                <a:cs typeface="Arial"/>
              </a:rPr>
              <a:t>Cont’d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50" dirty="0">
              <a:latin typeface="Arial"/>
              <a:cs typeface="Arial"/>
            </a:endParaRPr>
          </a:p>
          <a:p>
            <a:pPr marL="12700" algn="just"/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Panics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Need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Deposit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Insurance</a:t>
            </a:r>
            <a:endParaRPr sz="2400" dirty="0">
              <a:latin typeface="Arial"/>
              <a:cs typeface="Arial"/>
            </a:endParaRPr>
          </a:p>
          <a:p>
            <a:pPr marL="194945" marR="5080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5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failure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(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which  a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unable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meet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its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obligations</a:t>
            </a:r>
            <a:r>
              <a:rPr sz="24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2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pay</a:t>
            </a:r>
            <a:r>
              <a:rPr sz="24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its</a:t>
            </a:r>
            <a:r>
              <a:rPr sz="2400" spc="2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depositors</a:t>
            </a:r>
            <a:r>
              <a:rPr sz="2400" spc="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other</a:t>
            </a:r>
            <a:r>
              <a:rPr sz="24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creditors,</a:t>
            </a:r>
            <a:r>
              <a:rPr sz="2400" spc="3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so</a:t>
            </a:r>
            <a:r>
              <a:rPr sz="2400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must</a:t>
            </a:r>
            <a:r>
              <a:rPr sz="2400" spc="20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go</a:t>
            </a:r>
            <a:r>
              <a:rPr sz="2400" spc="1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out</a:t>
            </a:r>
            <a:r>
              <a:rPr sz="2400" spc="2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business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)</a:t>
            </a:r>
            <a:r>
              <a:rPr sz="24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meant</a:t>
            </a:r>
            <a:r>
              <a:rPr sz="24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depositors</a:t>
            </a:r>
            <a:r>
              <a:rPr sz="24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would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2400" spc="1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wait</a:t>
            </a:r>
            <a:r>
              <a:rPr sz="2400" spc="1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until</a:t>
            </a:r>
            <a:r>
              <a:rPr sz="2400" spc="1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was</a:t>
            </a:r>
            <a:r>
              <a:rPr sz="2400" spc="1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liquidated</a:t>
            </a:r>
            <a:r>
              <a:rPr sz="24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(until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its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assets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had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been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turned</a:t>
            </a:r>
            <a:r>
              <a:rPr sz="24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into</a:t>
            </a:r>
            <a:r>
              <a:rPr sz="2400" spc="3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cash)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get</a:t>
            </a:r>
            <a:r>
              <a:rPr sz="24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24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deposit</a:t>
            </a:r>
            <a:r>
              <a:rPr sz="24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funds;</a:t>
            </a:r>
            <a:r>
              <a:rPr sz="24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2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time,</a:t>
            </a:r>
            <a:r>
              <a:rPr sz="2400" spc="22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400" spc="2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would</a:t>
            </a:r>
            <a:r>
              <a:rPr sz="2400" spc="2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2400" spc="2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paid</a:t>
            </a:r>
            <a:r>
              <a:rPr sz="2400" spc="2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only</a:t>
            </a:r>
            <a:r>
              <a:rPr sz="2400"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2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fraction</a:t>
            </a:r>
            <a:r>
              <a:rPr sz="2400" spc="2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2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value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their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deposits.</a:t>
            </a:r>
            <a:endParaRPr sz="2400" dirty="0">
              <a:latin typeface="Arial"/>
              <a:cs typeface="Arial"/>
            </a:endParaRPr>
          </a:p>
          <a:p>
            <a:pPr marL="194945" marR="5715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couldn‟t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know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if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managers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were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taking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too</a:t>
            </a:r>
            <a:r>
              <a:rPr sz="2400" spc="8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much</a:t>
            </a:r>
            <a:r>
              <a:rPr sz="2400" spc="8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2400" spc="9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2400" spc="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were</a:t>
            </a:r>
            <a:r>
              <a:rPr sz="2400" spc="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outright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crooks,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depositors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would</a:t>
            </a:r>
            <a:r>
              <a:rPr sz="2400" spc="4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2400" spc="4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reluctant</a:t>
            </a:r>
            <a:r>
              <a:rPr sz="2400" spc="4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4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put</a:t>
            </a:r>
            <a:r>
              <a:rPr sz="2400" spc="4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money</a:t>
            </a:r>
            <a:r>
              <a:rPr sz="2400" spc="4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400" spc="4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banks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43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thus</a:t>
            </a:r>
            <a:r>
              <a:rPr sz="2400" spc="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making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banking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less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viable.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04801" y="1752602"/>
            <a:ext cx="11658600" cy="3411831"/>
          </a:xfrm>
          <a:prstGeom prst="rect">
            <a:avLst/>
          </a:prstGeom>
        </p:spPr>
        <p:txBody>
          <a:bodyPr vert="horz" wrap="square" lIns="0" tIns="4889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54965" marR="7620" indent="-342900" algn="just">
              <a:lnSpc>
                <a:spcPct val="90100"/>
              </a:lnSpc>
              <a:spcBef>
                <a:spcPts val="385"/>
              </a:spcBef>
              <a:buClr>
                <a:schemeClr val="tx1"/>
              </a:buClr>
              <a:buSzPct val="85416"/>
              <a:tabLst>
                <a:tab pos="195580" algn="l"/>
              </a:tabLst>
            </a:pPr>
            <a:r>
              <a:rPr dirty="0"/>
              <a:t>In</a:t>
            </a:r>
            <a:r>
              <a:rPr spc="145" dirty="0"/>
              <a:t>  </a:t>
            </a:r>
            <a:r>
              <a:rPr dirty="0"/>
              <a:t>addition,</a:t>
            </a:r>
            <a:r>
              <a:rPr spc="145" dirty="0"/>
              <a:t>  </a:t>
            </a:r>
            <a:r>
              <a:rPr dirty="0"/>
              <a:t>depositors‟</a:t>
            </a:r>
            <a:r>
              <a:rPr spc="110" dirty="0"/>
              <a:t>  </a:t>
            </a:r>
            <a:r>
              <a:rPr dirty="0"/>
              <a:t>lack</a:t>
            </a:r>
            <a:r>
              <a:rPr spc="145" dirty="0"/>
              <a:t>  </a:t>
            </a:r>
            <a:r>
              <a:rPr dirty="0"/>
              <a:t>of</a:t>
            </a:r>
            <a:r>
              <a:rPr spc="150" dirty="0"/>
              <a:t>  </a:t>
            </a:r>
            <a:r>
              <a:rPr dirty="0"/>
              <a:t>information</a:t>
            </a:r>
            <a:r>
              <a:rPr spc="145" dirty="0"/>
              <a:t>  </a:t>
            </a:r>
            <a:r>
              <a:rPr dirty="0"/>
              <a:t>about</a:t>
            </a:r>
            <a:r>
              <a:rPr spc="150" dirty="0"/>
              <a:t>  </a:t>
            </a:r>
            <a:r>
              <a:rPr spc="-25" dirty="0"/>
              <a:t>the </a:t>
            </a:r>
            <a:r>
              <a:rPr dirty="0"/>
              <a:t>quality</a:t>
            </a:r>
            <a:r>
              <a:rPr spc="175" dirty="0"/>
              <a:t> </a:t>
            </a:r>
            <a:r>
              <a:rPr dirty="0"/>
              <a:t>of</a:t>
            </a:r>
            <a:r>
              <a:rPr spc="180" dirty="0"/>
              <a:t> </a:t>
            </a:r>
            <a:r>
              <a:rPr dirty="0"/>
              <a:t>bank</a:t>
            </a:r>
            <a:r>
              <a:rPr spc="185" dirty="0"/>
              <a:t> </a:t>
            </a:r>
            <a:r>
              <a:rPr dirty="0"/>
              <a:t>assets</a:t>
            </a:r>
            <a:r>
              <a:rPr spc="185" dirty="0"/>
              <a:t> </a:t>
            </a:r>
            <a:r>
              <a:rPr dirty="0"/>
              <a:t>can</a:t>
            </a:r>
            <a:r>
              <a:rPr spc="180" dirty="0"/>
              <a:t> </a:t>
            </a:r>
            <a:r>
              <a:rPr dirty="0"/>
              <a:t>lead</a:t>
            </a:r>
            <a:r>
              <a:rPr spc="180" dirty="0"/>
              <a:t> </a:t>
            </a:r>
            <a:r>
              <a:rPr dirty="0"/>
              <a:t>to</a:t>
            </a:r>
            <a:r>
              <a:rPr spc="185" dirty="0"/>
              <a:t> </a:t>
            </a:r>
            <a:r>
              <a:rPr dirty="0"/>
              <a:t>a</a:t>
            </a:r>
            <a:r>
              <a:rPr spc="175" dirty="0"/>
              <a:t> </a:t>
            </a:r>
            <a:r>
              <a:rPr dirty="0">
                <a:solidFill>
                  <a:srgbClr val="FF0000"/>
                </a:solidFill>
              </a:rPr>
              <a:t>bank</a:t>
            </a:r>
            <a:r>
              <a:rPr spc="18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panic</a:t>
            </a:r>
            <a:r>
              <a:rPr dirty="0"/>
              <a:t>,</a:t>
            </a:r>
            <a:r>
              <a:rPr spc="190" dirty="0"/>
              <a:t> </a:t>
            </a:r>
            <a:r>
              <a:rPr dirty="0"/>
              <a:t>in</a:t>
            </a:r>
            <a:r>
              <a:rPr spc="180" dirty="0"/>
              <a:t> </a:t>
            </a:r>
            <a:r>
              <a:rPr spc="-10" dirty="0"/>
              <a:t>which </a:t>
            </a:r>
            <a:r>
              <a:rPr dirty="0"/>
              <a:t>many</a:t>
            </a:r>
            <a:r>
              <a:rPr spc="-15" dirty="0"/>
              <a:t> </a:t>
            </a:r>
            <a:r>
              <a:rPr dirty="0"/>
              <a:t>banks fail </a:t>
            </a:r>
            <a:r>
              <a:rPr spc="-10" dirty="0"/>
              <a:t>simultaneously.</a:t>
            </a:r>
          </a:p>
          <a:p>
            <a:pPr marL="469900" marR="6350" lvl="1" indent="-182880" algn="just">
              <a:lnSpc>
                <a:spcPts val="2160"/>
              </a:lnSpc>
              <a:spcBef>
                <a:spcPts val="515"/>
              </a:spcBef>
              <a:buClr>
                <a:schemeClr val="tx1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000" spc="1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simultaneous</a:t>
            </a:r>
            <a:r>
              <a:rPr sz="20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failure</a:t>
            </a:r>
            <a:r>
              <a:rPr sz="2000" spc="1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many</a:t>
            </a:r>
            <a:r>
              <a:rPr sz="20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20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leads</a:t>
            </a:r>
            <a:r>
              <a:rPr sz="20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sharp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decline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000" spc="2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lending,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000" spc="2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panics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serious,</a:t>
            </a:r>
            <a:r>
              <a:rPr sz="2000" spc="1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harmful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consequences</a:t>
            </a:r>
            <a:r>
              <a:rPr sz="2000" spc="-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0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economy.</a:t>
            </a:r>
            <a:endParaRPr sz="2000" dirty="0">
              <a:latin typeface="Arial"/>
              <a:cs typeface="Arial"/>
            </a:endParaRPr>
          </a:p>
          <a:p>
            <a:pPr marL="355600" indent="-342900" algn="just">
              <a:spcBef>
                <a:spcPts val="250"/>
              </a:spcBef>
              <a:buClr>
                <a:schemeClr val="tx1"/>
              </a:buClr>
              <a:buSzPct val="85416"/>
              <a:tabLst>
                <a:tab pos="195580" algn="l"/>
              </a:tabLst>
            </a:pPr>
            <a:r>
              <a:rPr dirty="0"/>
              <a:t>Why</a:t>
            </a:r>
            <a:r>
              <a:rPr spc="-25" dirty="0"/>
              <a:t> </a:t>
            </a:r>
            <a:r>
              <a:rPr dirty="0"/>
              <a:t>bank panics </a:t>
            </a:r>
            <a:r>
              <a:rPr spc="-10" dirty="0"/>
              <a:t>occur?</a:t>
            </a:r>
          </a:p>
          <a:p>
            <a:pPr marL="469900" marR="5080" lvl="1" indent="-182880" algn="just">
              <a:lnSpc>
                <a:spcPct val="90000"/>
              </a:lnSpc>
              <a:spcBef>
                <a:spcPts val="489"/>
              </a:spcBef>
              <a:buClr>
                <a:schemeClr val="tx1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Suppose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sz="2000"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adverse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shock</a:t>
            </a:r>
            <a:r>
              <a:rPr sz="2000" spc="3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hits</a:t>
            </a:r>
            <a:r>
              <a:rPr sz="2000" spc="3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economy.</a:t>
            </a:r>
            <a:r>
              <a:rPr sz="20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result</a:t>
            </a:r>
            <a:r>
              <a:rPr sz="2000" spc="3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shock,</a:t>
            </a:r>
            <a:r>
              <a:rPr sz="2000" spc="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5%</a:t>
            </a:r>
            <a:r>
              <a:rPr sz="2000" spc="4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000" spc="4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banks</a:t>
            </a:r>
            <a:r>
              <a:rPr sz="2000" spc="4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2000" spc="4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such</a:t>
            </a:r>
            <a:r>
              <a:rPr sz="2000" spc="4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large</a:t>
            </a:r>
            <a:r>
              <a:rPr sz="2000" spc="4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losses</a:t>
            </a:r>
            <a:r>
              <a:rPr sz="2000" spc="4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000" spc="4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loans</a:t>
            </a:r>
            <a:r>
              <a:rPr sz="2000" spc="4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4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they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become</a:t>
            </a:r>
            <a:r>
              <a:rPr sz="20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insolvent</a:t>
            </a:r>
            <a:r>
              <a:rPr sz="20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(have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negative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net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worth</a:t>
            </a:r>
            <a:r>
              <a:rPr sz="2000" spc="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20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bankrupt).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000"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3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asymmetric</a:t>
            </a:r>
            <a:r>
              <a:rPr sz="2000" spc="3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information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0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depositors</a:t>
            </a:r>
            <a:r>
              <a:rPr sz="2000" spc="3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sz="2000" spc="3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unable</a:t>
            </a:r>
            <a:r>
              <a:rPr sz="2000" spc="3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3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tell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whether</a:t>
            </a:r>
            <a:r>
              <a:rPr sz="2000" spc="4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their</a:t>
            </a:r>
            <a:r>
              <a:rPr sz="2000" spc="4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2000" spc="4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00" spc="4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4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“good”</a:t>
            </a:r>
            <a:r>
              <a:rPr sz="2000" spc="4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2000" spc="4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2000" spc="4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one</a:t>
            </a:r>
            <a:r>
              <a:rPr sz="2000" spc="4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000" spc="4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4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5%</a:t>
            </a:r>
            <a:r>
              <a:rPr sz="2000" spc="4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sz="2000" spc="43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are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insolvent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r>
              <a:rPr sz="2000" spc="2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Depositors</a:t>
            </a:r>
            <a:r>
              <a:rPr sz="20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at</a:t>
            </a:r>
            <a:r>
              <a:rPr sz="2000" spc="2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bad</a:t>
            </a:r>
            <a:r>
              <a:rPr sz="20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2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good</a:t>
            </a:r>
            <a:r>
              <a:rPr sz="2000" spc="2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2000" spc="2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recognize</a:t>
            </a:r>
            <a:r>
              <a:rPr sz="20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2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they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may</a:t>
            </a:r>
            <a:r>
              <a:rPr sz="2000" spc="3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not</a:t>
            </a:r>
            <a:r>
              <a:rPr sz="2000" spc="3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get</a:t>
            </a:r>
            <a:r>
              <a:rPr sz="2000" spc="3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back</a:t>
            </a:r>
            <a:r>
              <a:rPr sz="2000" spc="3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100</a:t>
            </a:r>
            <a:r>
              <a:rPr sz="20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cents</a:t>
            </a:r>
            <a:r>
              <a:rPr sz="20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0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dollar</a:t>
            </a:r>
            <a:r>
              <a:rPr sz="20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000" spc="3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2000" spc="3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deposits</a:t>
            </a:r>
            <a:r>
              <a:rPr sz="2000" spc="3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and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therefore</a:t>
            </a:r>
            <a:r>
              <a:rPr sz="2000" spc="-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inclined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withdraw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them.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1981200"/>
            <a:ext cx="11734799" cy="4345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marR="5080" indent="-182880" algn="just">
              <a:spcBef>
                <a:spcPts val="105"/>
              </a:spcBef>
              <a:buClr>
                <a:schemeClr val="tx1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Indeed,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because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banks</a:t>
            </a:r>
            <a:r>
              <a:rPr sz="20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operate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 a</a:t>
            </a:r>
            <a:r>
              <a:rPr sz="20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sequential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service</a:t>
            </a:r>
            <a:r>
              <a:rPr sz="20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constraint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”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(a</a:t>
            </a:r>
            <a:r>
              <a:rPr sz="20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first-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come,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 first-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served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basis),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depositors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very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 strong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incentive</a:t>
            </a:r>
            <a:r>
              <a:rPr sz="2000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2000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first</a:t>
            </a:r>
            <a:r>
              <a:rPr sz="2000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show</a:t>
            </a:r>
            <a:r>
              <a:rPr sz="2000" spc="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up</a:t>
            </a:r>
            <a:r>
              <a:rPr sz="2000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at</a:t>
            </a:r>
            <a:r>
              <a:rPr sz="2000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0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if</a:t>
            </a:r>
            <a:r>
              <a:rPr sz="20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000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are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last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line,</a:t>
            </a:r>
            <a:r>
              <a:rPr sz="20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0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may</a:t>
            </a:r>
            <a:r>
              <a:rPr sz="20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paid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out</a:t>
            </a:r>
            <a:r>
              <a:rPr sz="20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its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funds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will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get</a:t>
            </a:r>
            <a:r>
              <a:rPr sz="2000" spc="3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nothing.</a:t>
            </a:r>
            <a:r>
              <a:rPr sz="2000" spc="3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endParaRPr lang="en-US" sz="2000" spc="320" dirty="0">
              <a:solidFill>
                <a:srgbClr val="292934"/>
              </a:solidFill>
              <a:latin typeface="Arial"/>
              <a:cs typeface="Arial"/>
            </a:endParaRPr>
          </a:p>
          <a:p>
            <a:pPr marL="195580" marR="5080" indent="-182880" algn="just">
              <a:spcBef>
                <a:spcPts val="105"/>
              </a:spcBef>
              <a:buClr>
                <a:schemeClr val="tx1"/>
              </a:buClr>
              <a:buSzPct val="85000"/>
              <a:buChar char="•"/>
              <a:tabLst>
                <a:tab pos="195580" algn="l"/>
              </a:tabLst>
            </a:pPr>
            <a:endParaRPr lang="en-US" sz="2000" spc="320" dirty="0">
              <a:solidFill>
                <a:srgbClr val="292934"/>
              </a:solidFill>
              <a:latin typeface="Arial"/>
              <a:cs typeface="Arial"/>
            </a:endParaRPr>
          </a:p>
          <a:p>
            <a:pPr marL="195580" marR="5080" indent="-182880" algn="just">
              <a:spcBef>
                <a:spcPts val="105"/>
              </a:spcBef>
              <a:buClr>
                <a:schemeClr val="tx1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incentive</a:t>
            </a:r>
            <a:r>
              <a:rPr sz="2000" spc="3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run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”</a:t>
            </a:r>
            <a:r>
              <a:rPr sz="20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3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2000" spc="3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first</a:t>
            </a:r>
            <a:r>
              <a:rPr sz="2000" spc="3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why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withdrawals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when</a:t>
            </a:r>
            <a:r>
              <a:rPr sz="20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there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fear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about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health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0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is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described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run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.”</a:t>
            </a:r>
            <a:endParaRPr lang="en-US" sz="2000" dirty="0">
              <a:solidFill>
                <a:srgbClr val="292934"/>
              </a:solidFill>
              <a:latin typeface="Arial"/>
              <a:cs typeface="Arial"/>
            </a:endParaRPr>
          </a:p>
          <a:p>
            <a:pPr marL="195580" marR="5080" indent="-182880" algn="just">
              <a:spcBef>
                <a:spcPts val="105"/>
              </a:spcBef>
              <a:buClr>
                <a:schemeClr val="tx1"/>
              </a:buClr>
              <a:buSzPct val="85000"/>
              <a:buChar char="•"/>
              <a:tabLst>
                <a:tab pos="195580" algn="l"/>
              </a:tabLst>
            </a:pPr>
            <a:endParaRPr lang="en-US" sz="2000" spc="-15" dirty="0">
              <a:solidFill>
                <a:srgbClr val="292934"/>
              </a:solidFill>
              <a:latin typeface="Arial"/>
              <a:cs typeface="Arial"/>
            </a:endParaRPr>
          </a:p>
          <a:p>
            <a:pPr marL="355600" marR="5080" indent="-342900" algn="just">
              <a:spcBef>
                <a:spcPts val="105"/>
              </a:spcBef>
              <a:buClr>
                <a:schemeClr val="tx1"/>
              </a:buClr>
              <a:buSzPct val="85000"/>
              <a:buFont typeface="Arial" pitchFamily="34" charset="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Uncertainty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about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health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 the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banking</a:t>
            </a:r>
            <a:r>
              <a:rPr sz="2000" spc="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system</a:t>
            </a:r>
            <a:r>
              <a:rPr sz="2000" spc="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000" spc="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general</a:t>
            </a:r>
            <a:r>
              <a:rPr sz="2000" spc="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can</a:t>
            </a:r>
            <a:r>
              <a:rPr sz="2000" spc="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lead</a:t>
            </a:r>
            <a:r>
              <a:rPr sz="2000" spc="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runs</a:t>
            </a:r>
            <a:r>
              <a:rPr sz="2000" spc="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000" spc="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both</a:t>
            </a:r>
            <a:r>
              <a:rPr sz="2000" spc="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good</a:t>
            </a:r>
            <a:r>
              <a:rPr sz="2000" spc="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000" spc="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bad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banks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failure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one</a:t>
            </a:r>
            <a:r>
              <a:rPr sz="20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000" spc="1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hasten</a:t>
            </a:r>
            <a:r>
              <a:rPr sz="2000" spc="1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1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failure</a:t>
            </a:r>
            <a:r>
              <a:rPr sz="2000" spc="1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others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(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referred</a:t>
            </a:r>
            <a:r>
              <a:rPr sz="20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contagion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effect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).</a:t>
            </a:r>
            <a:r>
              <a:rPr sz="2000" spc="-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endParaRPr lang="en-US" sz="2000" spc="-50" dirty="0">
              <a:solidFill>
                <a:srgbClr val="292934"/>
              </a:solidFill>
              <a:latin typeface="Arial"/>
              <a:cs typeface="Arial"/>
            </a:endParaRPr>
          </a:p>
          <a:p>
            <a:pPr marL="355600" marR="5080" indent="-342900" algn="just">
              <a:spcBef>
                <a:spcPts val="105"/>
              </a:spcBef>
              <a:buClr>
                <a:schemeClr val="tx1"/>
              </a:buClr>
              <a:buSzPct val="85000"/>
              <a:buFont typeface="Arial" pitchFamily="34" charset="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nothing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done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restore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the public‟s</a:t>
            </a:r>
            <a:r>
              <a:rPr sz="20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confidence,</a:t>
            </a:r>
            <a:r>
              <a:rPr sz="2000" spc="-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panic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can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ensue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  <a:p>
            <a:pPr marL="469900" marR="6350" lvl="1" indent="-182880" algn="just">
              <a:spcBef>
                <a:spcPts val="445"/>
              </a:spcBef>
              <a:buClr>
                <a:schemeClr val="tx1"/>
              </a:buClr>
              <a:buSzPct val="88888"/>
              <a:buChar char="•"/>
              <a:tabLst>
                <a:tab pos="470534" algn="l"/>
              </a:tabLst>
            </a:pP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Bank panic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crisis</a:t>
            </a:r>
            <a:r>
              <a:rPr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occurs</a:t>
            </a:r>
            <a:r>
              <a:rPr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Arial"/>
                <a:cs typeface="Arial"/>
              </a:rPr>
              <a:t>when</a:t>
            </a:r>
            <a:r>
              <a:rPr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Arial"/>
                <a:cs typeface="Arial"/>
              </a:rPr>
              <a:t>many</a:t>
            </a:r>
            <a:r>
              <a:rPr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Arial"/>
                <a:cs typeface="Arial"/>
              </a:rPr>
              <a:t>banks</a:t>
            </a:r>
            <a:r>
              <a:rPr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Arial"/>
                <a:cs typeface="Arial"/>
              </a:rPr>
              <a:t>suffer</a:t>
            </a:r>
            <a:r>
              <a:rPr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FF0000"/>
                </a:solidFill>
                <a:latin typeface="Arial"/>
                <a:cs typeface="Arial"/>
              </a:rPr>
              <a:t>runs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at</a:t>
            </a:r>
            <a:r>
              <a:rPr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same</a:t>
            </a:r>
            <a:r>
              <a:rPr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time,</a:t>
            </a:r>
            <a:r>
              <a:rPr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people</a:t>
            </a:r>
            <a:r>
              <a:rPr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suddenly</a:t>
            </a:r>
            <a:r>
              <a:rPr spc="3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try</a:t>
            </a:r>
            <a:r>
              <a:rPr spc="3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convert</a:t>
            </a:r>
            <a:r>
              <a:rPr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292934"/>
                </a:solidFill>
                <a:latin typeface="Arial"/>
                <a:cs typeface="Arial"/>
              </a:rPr>
              <a:t>threatened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deposits</a:t>
            </a:r>
            <a:r>
              <a:rPr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into</a:t>
            </a:r>
            <a:r>
              <a:rPr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cash</a:t>
            </a:r>
            <a:r>
              <a:rPr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try</a:t>
            </a:r>
            <a:r>
              <a:rPr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get</a:t>
            </a:r>
            <a:r>
              <a:rPr spc="3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out</a:t>
            </a:r>
            <a:r>
              <a:rPr spc="3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pc="3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domestic</a:t>
            </a:r>
            <a:r>
              <a:rPr spc="3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banking</a:t>
            </a:r>
            <a:r>
              <a:rPr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292934"/>
                </a:solidFill>
                <a:latin typeface="Arial"/>
                <a:cs typeface="Arial"/>
              </a:rPr>
              <a:t>system altogether.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905000"/>
            <a:ext cx="11582400" cy="358469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4945" marR="5080" indent="-182880" algn="just">
              <a:lnSpc>
                <a:spcPct val="90000"/>
              </a:lnSpc>
              <a:spcBef>
                <a:spcPts val="3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government</a:t>
            </a:r>
            <a:r>
              <a:rPr sz="2400" spc="4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400" spc="4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net</a:t>
            </a:r>
            <a:r>
              <a:rPr sz="2400" spc="4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400" spc="4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depositors</a:t>
            </a:r>
            <a:r>
              <a:rPr sz="2400" spc="4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spc="4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short-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circuit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runs</a:t>
            </a:r>
            <a:r>
              <a:rPr sz="2400" spc="2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2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panics,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providing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protection</a:t>
            </a:r>
            <a:r>
              <a:rPr sz="2400" spc="3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400" spc="3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3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depositor,</a:t>
            </a:r>
            <a:r>
              <a:rPr sz="2400" spc="3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400" spc="3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spc="3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overcome</a:t>
            </a:r>
            <a:r>
              <a:rPr sz="2400" spc="4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depositors‟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reluctance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put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funds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into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banking</a:t>
            </a:r>
            <a:r>
              <a:rPr sz="24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system.</a:t>
            </a:r>
            <a:endParaRPr sz="2400" dirty="0">
              <a:latin typeface="Arial"/>
              <a:cs typeface="Arial"/>
            </a:endParaRPr>
          </a:p>
          <a:p>
            <a:pPr marL="469900" marR="11430" lvl="1" indent="-182880" algn="just">
              <a:lnSpc>
                <a:spcPct val="9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One</a:t>
            </a:r>
            <a:r>
              <a:rPr sz="2000" spc="11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form</a:t>
            </a:r>
            <a:r>
              <a:rPr sz="20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1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safety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net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deposit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insurance,</a:t>
            </a:r>
            <a:r>
              <a:rPr sz="2000" spc="1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such</a:t>
            </a:r>
            <a:r>
              <a:rPr sz="20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0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provided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Federal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Deposit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Insurance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Corporation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(FDIC)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United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States.</a:t>
            </a:r>
            <a:r>
              <a:rPr sz="2000" spc="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43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FDIC</a:t>
            </a:r>
            <a:r>
              <a:rPr sz="2000" spc="45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uses</a:t>
            </a:r>
            <a:r>
              <a:rPr sz="2000" spc="4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two</a:t>
            </a:r>
            <a:r>
              <a:rPr sz="2000" spc="4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primary</a:t>
            </a:r>
            <a:r>
              <a:rPr sz="2000" spc="4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methods</a:t>
            </a:r>
            <a:r>
              <a:rPr sz="2000" spc="4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4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handle</a:t>
            </a:r>
            <a:r>
              <a:rPr sz="2000" spc="4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4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failed bank.</a:t>
            </a:r>
            <a:endParaRPr sz="2000" dirty="0">
              <a:latin typeface="Arial"/>
              <a:cs typeface="Arial"/>
            </a:endParaRPr>
          </a:p>
          <a:p>
            <a:pPr marL="1018540" marR="12700" lvl="2" indent="-182880" algn="just">
              <a:lnSpc>
                <a:spcPts val="1730"/>
              </a:lnSpc>
              <a:spcBef>
                <a:spcPts val="425"/>
              </a:spcBef>
              <a:buClr>
                <a:srgbClr val="92A199"/>
              </a:buClr>
              <a:buChar char="•"/>
              <a:tabLst>
                <a:tab pos="1019175" algn="l"/>
              </a:tabLst>
            </a:pP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16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first,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called</a:t>
            </a:r>
            <a:r>
              <a:rPr sz="16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payoff</a:t>
            </a:r>
            <a:r>
              <a:rPr sz="16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FDIC</a:t>
            </a:r>
            <a:r>
              <a:rPr sz="16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allows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16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fail</a:t>
            </a:r>
            <a:r>
              <a:rPr sz="16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16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pays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off</a:t>
            </a:r>
            <a:r>
              <a:rPr sz="1600" spc="2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depositors</a:t>
            </a:r>
            <a:r>
              <a:rPr sz="1600" spc="2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up</a:t>
            </a:r>
            <a:r>
              <a:rPr sz="1600"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1600" spc="25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25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$250,000</a:t>
            </a:r>
            <a:r>
              <a:rPr sz="1600"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insurance</a:t>
            </a:r>
            <a:r>
              <a:rPr sz="1600" spc="2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limit.</a:t>
            </a:r>
            <a:r>
              <a:rPr sz="1600" spc="2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After</a:t>
            </a:r>
            <a:r>
              <a:rPr sz="1600" spc="2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25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1600"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1600"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been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liquidated,</a:t>
            </a:r>
            <a:r>
              <a:rPr sz="1600" spc="1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FDIC</a:t>
            </a:r>
            <a:r>
              <a:rPr sz="1600" spc="1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lines</a:t>
            </a:r>
            <a:r>
              <a:rPr sz="1600" spc="1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up</a:t>
            </a:r>
            <a:r>
              <a:rPr sz="16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1600" spc="1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other</a:t>
            </a:r>
            <a:r>
              <a:rPr sz="16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creditors</a:t>
            </a:r>
            <a:r>
              <a:rPr sz="16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1600" spc="1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16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16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1600" spc="1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paid</a:t>
            </a:r>
            <a:r>
              <a:rPr sz="1600" spc="1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292934"/>
                </a:solidFill>
                <a:latin typeface="Arial"/>
                <a:cs typeface="Arial"/>
              </a:rPr>
              <a:t>its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share</a:t>
            </a:r>
            <a:r>
              <a:rPr sz="16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16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proceeds</a:t>
            </a:r>
            <a:r>
              <a:rPr sz="16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16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liquidated</a:t>
            </a:r>
            <a:r>
              <a:rPr sz="1600" spc="-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Arial"/>
                <a:cs typeface="Arial"/>
              </a:rPr>
              <a:t>assets.</a:t>
            </a:r>
            <a:endParaRPr sz="1600" dirty="0">
              <a:latin typeface="Arial"/>
              <a:cs typeface="Arial"/>
            </a:endParaRPr>
          </a:p>
          <a:p>
            <a:pPr marL="1018540" marR="11430" lvl="2" indent="-182880" algn="just">
              <a:lnSpc>
                <a:spcPct val="90000"/>
              </a:lnSpc>
              <a:spcBef>
                <a:spcPts val="350"/>
              </a:spcBef>
              <a:buClr>
                <a:srgbClr val="92A199"/>
              </a:buClr>
              <a:buChar char="•"/>
              <a:tabLst>
                <a:tab pos="1019175" algn="l"/>
              </a:tabLst>
            </a:pP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In the second</a:t>
            </a:r>
            <a:r>
              <a:rPr sz="16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method,</a:t>
            </a:r>
            <a:r>
              <a:rPr sz="16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called</a:t>
            </a:r>
            <a:r>
              <a:rPr sz="16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purchase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assumption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, the 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FDIC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reorganizes</a:t>
            </a:r>
            <a:r>
              <a:rPr sz="16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bank,</a:t>
            </a:r>
            <a:r>
              <a:rPr sz="1600" spc="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typically</a:t>
            </a:r>
            <a:r>
              <a:rPr sz="16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16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finding</a:t>
            </a:r>
            <a:r>
              <a:rPr sz="16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6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willing</a:t>
            </a:r>
            <a:r>
              <a:rPr sz="1600" spc="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merger</a:t>
            </a:r>
            <a:r>
              <a:rPr sz="16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partner</a:t>
            </a:r>
            <a:r>
              <a:rPr sz="16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600" spc="-25" dirty="0">
                <a:solidFill>
                  <a:srgbClr val="292934"/>
                </a:solidFill>
                <a:latin typeface="Arial"/>
                <a:cs typeface="Arial"/>
              </a:rPr>
              <a:t>who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assumes</a:t>
            </a:r>
            <a:r>
              <a:rPr sz="16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(takes</a:t>
            </a:r>
            <a:r>
              <a:rPr sz="16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over)</a:t>
            </a:r>
            <a:r>
              <a:rPr sz="16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sz="16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16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failed</a:t>
            </a:r>
            <a:r>
              <a:rPr sz="16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Arial"/>
                <a:cs typeface="Arial"/>
              </a:rPr>
              <a:t>bank‟s</a:t>
            </a:r>
            <a:r>
              <a:rPr sz="16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liabilities</a:t>
            </a:r>
            <a:r>
              <a:rPr sz="16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16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16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no</a:t>
            </a:r>
            <a:r>
              <a:rPr sz="16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depositor</a:t>
            </a:r>
            <a:r>
              <a:rPr sz="16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292934"/>
                </a:solidFill>
                <a:latin typeface="Arial"/>
                <a:cs typeface="Arial"/>
              </a:rPr>
              <a:t>or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other</a:t>
            </a:r>
            <a:r>
              <a:rPr sz="16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creditor</a:t>
            </a:r>
            <a:r>
              <a:rPr sz="16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loses</a:t>
            </a:r>
            <a:r>
              <a:rPr sz="16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6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penny.</a:t>
            </a:r>
            <a:r>
              <a:rPr sz="16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FDIC</a:t>
            </a:r>
            <a:r>
              <a:rPr sz="16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often</a:t>
            </a:r>
            <a:r>
              <a:rPr sz="16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sweetens</a:t>
            </a:r>
            <a:r>
              <a:rPr sz="1600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600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pot</a:t>
            </a:r>
            <a:r>
              <a:rPr sz="1600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16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Arial"/>
                <a:cs typeface="Arial"/>
              </a:rPr>
              <a:t>merger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partner</a:t>
            </a:r>
            <a:r>
              <a:rPr sz="16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1600" spc="1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providing</a:t>
            </a:r>
            <a:r>
              <a:rPr sz="16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16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16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subsidized</a:t>
            </a:r>
            <a:r>
              <a:rPr sz="1600" spc="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loans</a:t>
            </a:r>
            <a:r>
              <a:rPr sz="1600" spc="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16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16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buying</a:t>
            </a:r>
            <a:r>
              <a:rPr sz="1600" spc="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some</a:t>
            </a:r>
            <a:r>
              <a:rPr sz="1600" spc="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600" spc="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600" spc="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failed </a:t>
            </a:r>
            <a:r>
              <a:rPr sz="1600" spc="-35" dirty="0">
                <a:solidFill>
                  <a:srgbClr val="FF0000"/>
                </a:solidFill>
                <a:latin typeface="Arial"/>
                <a:cs typeface="Arial"/>
              </a:rPr>
              <a:t>bank‟s</a:t>
            </a:r>
            <a:r>
              <a:rPr sz="16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weaker</a:t>
            </a:r>
            <a:r>
              <a:rPr sz="16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loans</a:t>
            </a:r>
            <a:r>
              <a:rPr sz="16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762000" y="1752600"/>
            <a:ext cx="11125200" cy="3895297"/>
          </a:xfrm>
          <a:prstGeom prst="rect">
            <a:avLst/>
          </a:prstGeom>
        </p:spPr>
        <p:txBody>
          <a:bodyPr vert="horz" wrap="square" lIns="0" tIns="8572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algn="just">
              <a:spcBef>
                <a:spcPts val="675"/>
              </a:spcBef>
            </a:pPr>
            <a:r>
              <a:rPr dirty="0">
                <a:solidFill>
                  <a:srgbClr val="FF0000"/>
                </a:solidFill>
              </a:rPr>
              <a:t>Other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Forms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Government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Safety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Net</a:t>
            </a:r>
          </a:p>
          <a:p>
            <a:pPr marL="194945" marR="5080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In</a:t>
            </a:r>
            <a:r>
              <a:rPr spc="30" dirty="0"/>
              <a:t> </a:t>
            </a:r>
            <a:r>
              <a:rPr dirty="0"/>
              <a:t>other</a:t>
            </a:r>
            <a:r>
              <a:rPr spc="35" dirty="0"/>
              <a:t> </a:t>
            </a:r>
            <a:r>
              <a:rPr dirty="0"/>
              <a:t>countries,</a:t>
            </a:r>
            <a:r>
              <a:rPr spc="45" dirty="0"/>
              <a:t> </a:t>
            </a:r>
            <a:r>
              <a:rPr dirty="0"/>
              <a:t>governments</a:t>
            </a:r>
            <a:r>
              <a:rPr spc="35" dirty="0"/>
              <a:t> </a:t>
            </a:r>
            <a:r>
              <a:rPr dirty="0"/>
              <a:t>have</a:t>
            </a:r>
            <a:r>
              <a:rPr spc="30" dirty="0"/>
              <a:t> </a:t>
            </a:r>
            <a:r>
              <a:rPr dirty="0"/>
              <a:t>often</a:t>
            </a:r>
            <a:r>
              <a:rPr spc="35" dirty="0"/>
              <a:t> </a:t>
            </a:r>
            <a:r>
              <a:rPr dirty="0"/>
              <a:t>stood</a:t>
            </a:r>
            <a:r>
              <a:rPr spc="30" dirty="0"/>
              <a:t> </a:t>
            </a:r>
            <a:r>
              <a:rPr dirty="0"/>
              <a:t>ready</a:t>
            </a:r>
            <a:r>
              <a:rPr spc="40" dirty="0"/>
              <a:t> </a:t>
            </a:r>
            <a:r>
              <a:rPr spc="-25" dirty="0"/>
              <a:t>to </a:t>
            </a:r>
            <a:r>
              <a:rPr dirty="0"/>
              <a:t>provide</a:t>
            </a:r>
            <a:r>
              <a:rPr spc="50" dirty="0"/>
              <a:t> </a:t>
            </a:r>
            <a:r>
              <a:rPr dirty="0">
                <a:solidFill>
                  <a:srgbClr val="FF0000"/>
                </a:solidFill>
              </a:rPr>
              <a:t>support</a:t>
            </a:r>
            <a:r>
              <a:rPr spc="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domestic</a:t>
            </a:r>
            <a:r>
              <a:rPr spc="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banks</a:t>
            </a:r>
            <a:r>
              <a:rPr spc="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facing</a:t>
            </a:r>
            <a:r>
              <a:rPr spc="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runs</a:t>
            </a:r>
            <a:r>
              <a:rPr spc="50" dirty="0">
                <a:solidFill>
                  <a:srgbClr val="FF0000"/>
                </a:solidFill>
              </a:rPr>
              <a:t> </a:t>
            </a:r>
            <a:r>
              <a:rPr dirty="0"/>
              <a:t>even</a:t>
            </a:r>
            <a:r>
              <a:rPr spc="50" dirty="0"/>
              <a:t> </a:t>
            </a:r>
            <a:r>
              <a:rPr dirty="0"/>
              <a:t>in</a:t>
            </a:r>
            <a:r>
              <a:rPr spc="50" dirty="0"/>
              <a:t> </a:t>
            </a:r>
            <a:r>
              <a:rPr spc="-25" dirty="0"/>
              <a:t>the </a:t>
            </a:r>
            <a:r>
              <a:rPr dirty="0">
                <a:solidFill>
                  <a:srgbClr val="FF0000"/>
                </a:solidFill>
              </a:rPr>
              <a:t>absence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explicit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deposit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insurance</a:t>
            </a:r>
            <a:r>
              <a:rPr spc="-10" dirty="0"/>
              <a:t>.</a:t>
            </a:r>
          </a:p>
          <a:p>
            <a:pPr marL="469900" marR="5080" lvl="1" indent="-182880" algn="just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Furthermore,</a:t>
            </a:r>
            <a:r>
              <a:rPr sz="20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20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000" spc="3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not</a:t>
            </a:r>
            <a:r>
              <a:rPr sz="2000" spc="3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only</a:t>
            </a:r>
            <a:r>
              <a:rPr sz="20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3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intermediaries</a:t>
            </a:r>
            <a:r>
              <a:rPr sz="20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that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pose</a:t>
            </a:r>
            <a:r>
              <a:rPr sz="20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11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systemic</a:t>
            </a:r>
            <a:r>
              <a:rPr sz="2000" spc="1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threat</a:t>
            </a:r>
            <a:r>
              <a:rPr sz="20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system.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endParaRPr lang="en-US" sz="2000" spc="110" dirty="0">
              <a:solidFill>
                <a:srgbClr val="292934"/>
              </a:solidFill>
              <a:latin typeface="Arial"/>
              <a:cs typeface="Arial"/>
            </a:endParaRPr>
          </a:p>
          <a:p>
            <a:pPr marL="469900" marR="5080" lvl="1" indent="-182880" algn="just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When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000" spc="11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000" spc="11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very</a:t>
            </a:r>
            <a:r>
              <a:rPr sz="2000" spc="11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large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highly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interconnected</a:t>
            </a:r>
            <a:r>
              <a:rPr sz="2000" spc="11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000" spc="11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other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000" spc="4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2000" spc="4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markets,</a:t>
            </a:r>
            <a:r>
              <a:rPr sz="2000" spc="4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20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failure</a:t>
            </a:r>
            <a:r>
              <a:rPr sz="2000" spc="4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2000" spc="4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4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potential</a:t>
            </a:r>
            <a:r>
              <a:rPr sz="2000" spc="4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to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bring</a:t>
            </a:r>
            <a:r>
              <a:rPr sz="2000" spc="1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down</a:t>
            </a:r>
            <a:r>
              <a:rPr sz="2000" spc="1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entire</a:t>
            </a:r>
            <a:r>
              <a:rPr sz="2000" spc="1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1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system.</a:t>
            </a:r>
            <a:r>
              <a:rPr sz="2000" spc="1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endParaRPr lang="en-US" sz="2000" spc="150" dirty="0">
              <a:solidFill>
                <a:srgbClr val="292934"/>
              </a:solidFill>
              <a:latin typeface="Arial"/>
              <a:cs typeface="Arial"/>
            </a:endParaRPr>
          </a:p>
          <a:p>
            <a:pPr marL="927100" marR="5080" lvl="2" indent="-182880" algn="just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2000" spc="1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000" spc="1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exactly</a:t>
            </a:r>
            <a:r>
              <a:rPr sz="2000" spc="1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what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happened with Bear</a:t>
            </a:r>
            <a:r>
              <a:rPr sz="20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Stearns</a:t>
            </a:r>
            <a:r>
              <a:rPr sz="20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 Lehman</a:t>
            </a:r>
            <a:r>
              <a:rPr sz="20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Brothers,</a:t>
            </a:r>
            <a:r>
              <a:rPr sz="20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two</a:t>
            </a:r>
            <a:r>
              <a:rPr sz="20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investment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banks,</a:t>
            </a:r>
            <a:r>
              <a:rPr sz="20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AIG,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sz="20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insurance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company,</a:t>
            </a:r>
            <a:r>
              <a:rPr sz="20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during</a:t>
            </a:r>
            <a:r>
              <a:rPr sz="20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global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crisis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2008.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1066800"/>
            <a:ext cx="11430000" cy="275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solidFill>
                  <a:srgbClr val="D2523B"/>
                </a:solidFill>
                <a:latin typeface="Arial"/>
                <a:cs typeface="Arial"/>
              </a:rPr>
              <a:t>Cont’d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50" dirty="0">
              <a:latin typeface="Arial"/>
              <a:cs typeface="Arial"/>
            </a:endParaRPr>
          </a:p>
          <a:p>
            <a:pPr marL="194945" marR="5080" indent="-182880" algn="just"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One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way in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governments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provide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support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through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lending</a:t>
            </a:r>
            <a:r>
              <a:rPr sz="2400" spc="3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24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3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central</a:t>
            </a:r>
            <a:r>
              <a:rPr sz="24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troubled</a:t>
            </a:r>
            <a:r>
              <a:rPr sz="24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institutions,</a:t>
            </a:r>
            <a:r>
              <a:rPr sz="2400" spc="3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as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Federal Reserve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did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during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global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crisis.</a:t>
            </a:r>
            <a:endParaRPr sz="2400" dirty="0">
              <a:latin typeface="Arial"/>
              <a:cs typeface="Arial"/>
            </a:endParaRPr>
          </a:p>
          <a:p>
            <a:pPr marL="194945" marR="5715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24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form</a:t>
            </a:r>
            <a:r>
              <a:rPr sz="24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2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support</a:t>
            </a:r>
            <a:r>
              <a:rPr sz="24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spc="2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often</a:t>
            </a:r>
            <a:r>
              <a:rPr sz="24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referred</a:t>
            </a:r>
            <a:r>
              <a:rPr sz="2400" spc="2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2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“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lender</a:t>
            </a:r>
            <a:r>
              <a:rPr sz="2400" spc="2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last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resort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”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role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central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bank.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1" y="697907"/>
            <a:ext cx="6069965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828800"/>
            <a:ext cx="11734800" cy="406072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algn="just">
              <a:spcBef>
                <a:spcPts val="625"/>
              </a:spcBef>
            </a:pP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Drawbacks</a:t>
            </a:r>
            <a:r>
              <a:rPr sz="22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2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2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Government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2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Net</a:t>
            </a:r>
            <a:endParaRPr sz="2200" dirty="0">
              <a:latin typeface="Arial"/>
              <a:cs typeface="Arial"/>
            </a:endParaRPr>
          </a:p>
          <a:p>
            <a:pPr marL="194945" marR="6985" indent="-182880" algn="just">
              <a:spcBef>
                <a:spcPts val="530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Although</a:t>
            </a:r>
            <a:r>
              <a:rPr sz="22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2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government</a:t>
            </a:r>
            <a:r>
              <a:rPr sz="22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safety</a:t>
            </a:r>
            <a:r>
              <a:rPr sz="22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net</a:t>
            </a:r>
            <a:r>
              <a:rPr sz="22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2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help</a:t>
            </a:r>
            <a:r>
              <a:rPr sz="22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protect</a:t>
            </a:r>
            <a:r>
              <a:rPr sz="22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depositors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2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other</a:t>
            </a:r>
            <a:r>
              <a:rPr sz="22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creditors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200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prevent,</a:t>
            </a:r>
            <a:r>
              <a:rPr sz="22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2200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ameliorate,</a:t>
            </a:r>
            <a:r>
              <a:rPr sz="22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2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crises,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2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2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mixed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blessing.</a:t>
            </a:r>
            <a:endParaRPr sz="2200" dirty="0">
              <a:latin typeface="Arial"/>
              <a:cs typeface="Arial"/>
            </a:endParaRPr>
          </a:p>
          <a:p>
            <a:pPr marL="469900" indent="-457200" algn="just">
              <a:spcBef>
                <a:spcPts val="530"/>
              </a:spcBef>
              <a:buClr>
                <a:srgbClr val="92A199"/>
              </a:buClr>
              <a:buSzPct val="84090"/>
              <a:buAutoNum type="arabicPeriod"/>
              <a:tabLst>
                <a:tab pos="469900" algn="l"/>
              </a:tabLst>
            </a:pP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Moral</a:t>
            </a:r>
            <a:r>
              <a:rPr sz="22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Hazard</a:t>
            </a:r>
            <a:r>
              <a:rPr sz="22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2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2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Government</a:t>
            </a:r>
            <a:r>
              <a:rPr sz="22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2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Net</a:t>
            </a:r>
            <a:endParaRPr sz="2200" dirty="0">
              <a:latin typeface="Arial"/>
              <a:cs typeface="Arial"/>
            </a:endParaRPr>
          </a:p>
          <a:p>
            <a:pPr marL="194945" marR="5080" lvl="1" indent="-182880" algn="just">
              <a:spcBef>
                <a:spcPts val="530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most</a:t>
            </a:r>
            <a:r>
              <a:rPr sz="22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serious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drawback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government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safety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net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stems</a:t>
            </a:r>
            <a:r>
              <a:rPr sz="22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from  moral</a:t>
            </a:r>
            <a:r>
              <a:rPr sz="22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hazard,</a:t>
            </a:r>
            <a:r>
              <a:rPr sz="22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  incentives  of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one</a:t>
            </a:r>
            <a:r>
              <a:rPr sz="22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party</a:t>
            </a:r>
            <a:r>
              <a:rPr sz="22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spc="-50" dirty="0">
                <a:solidFill>
                  <a:srgbClr val="292934"/>
                </a:solidFill>
                <a:latin typeface="Arial"/>
                <a:cs typeface="Arial"/>
              </a:rPr>
              <a:t>a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transaction</a:t>
            </a:r>
            <a:r>
              <a:rPr sz="2200" spc="-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200" spc="-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engage</a:t>
            </a:r>
            <a:r>
              <a:rPr sz="22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200" spc="-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activities</a:t>
            </a:r>
            <a:r>
              <a:rPr sz="22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detrimental</a:t>
            </a:r>
            <a:r>
              <a:rPr sz="22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200" spc="-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-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other</a:t>
            </a:r>
            <a:r>
              <a:rPr sz="22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party.</a:t>
            </a:r>
            <a:endParaRPr sz="2200" dirty="0">
              <a:latin typeface="Arial"/>
              <a:cs typeface="Arial"/>
            </a:endParaRPr>
          </a:p>
          <a:p>
            <a:pPr marL="194945" marR="5715" lvl="1" indent="-182880" algn="just">
              <a:spcBef>
                <a:spcPts val="530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200"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200" spc="2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safety</a:t>
            </a:r>
            <a:r>
              <a:rPr sz="2200" spc="2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net,</a:t>
            </a:r>
            <a:r>
              <a:rPr sz="2200" spc="2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depositors</a:t>
            </a:r>
            <a:r>
              <a:rPr sz="2200" spc="25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200" spc="2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creditors</a:t>
            </a:r>
            <a:r>
              <a:rPr sz="2200" spc="25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know</a:t>
            </a:r>
            <a:r>
              <a:rPr sz="2200" spc="2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they</a:t>
            </a:r>
            <a:r>
              <a:rPr sz="2200" spc="2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r>
              <a:rPr sz="2200" spc="2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suffer</a:t>
            </a:r>
            <a:r>
              <a:rPr sz="22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losses</a:t>
            </a:r>
            <a:r>
              <a:rPr sz="22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if</a:t>
            </a:r>
            <a:r>
              <a:rPr sz="22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2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2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22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fails,</a:t>
            </a:r>
            <a:r>
              <a:rPr sz="22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22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2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do</a:t>
            </a:r>
            <a:r>
              <a:rPr sz="22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not</a:t>
            </a:r>
            <a:r>
              <a:rPr sz="22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impose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1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discipline</a:t>
            </a:r>
            <a:r>
              <a:rPr sz="2200" spc="1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200" spc="1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1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marketplace</a:t>
            </a:r>
            <a:r>
              <a:rPr sz="2200" spc="1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200" spc="1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these</a:t>
            </a:r>
            <a:r>
              <a:rPr sz="2200" spc="1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200" spc="1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by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withdrawing</a:t>
            </a:r>
            <a:r>
              <a:rPr sz="2200" spc="3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funds</a:t>
            </a:r>
            <a:r>
              <a:rPr sz="2200" spc="3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when</a:t>
            </a:r>
            <a:r>
              <a:rPr sz="2200" spc="2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200" spc="2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suspect</a:t>
            </a:r>
            <a:r>
              <a:rPr sz="2200" spc="2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200" spc="2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2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2200" spc="-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200" spc="-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taking</a:t>
            </a:r>
            <a:r>
              <a:rPr sz="22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2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too</a:t>
            </a:r>
            <a:r>
              <a:rPr sz="22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much</a:t>
            </a:r>
            <a:r>
              <a:rPr sz="22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risk.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700" y="2057400"/>
            <a:ext cx="11658599" cy="32071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4945" marR="5715" indent="-182880" algn="just">
              <a:lnSpc>
                <a:spcPct val="90000"/>
              </a:lnSpc>
              <a:spcBef>
                <a:spcPts val="3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Consequently,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2400" spc="1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spc="13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government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400" spc="1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net</a:t>
            </a:r>
            <a:r>
              <a:rPr sz="2400" spc="1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sz="2400" spc="1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incentive</a:t>
            </a:r>
            <a:r>
              <a:rPr sz="2400" spc="1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1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take</a:t>
            </a:r>
            <a:r>
              <a:rPr sz="2400" spc="1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400" spc="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greater</a:t>
            </a:r>
            <a:r>
              <a:rPr sz="2400" spc="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risks</a:t>
            </a:r>
            <a:r>
              <a:rPr sz="2400" spc="1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than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4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otherwise</a:t>
            </a:r>
            <a:r>
              <a:rPr sz="24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would,</a:t>
            </a:r>
            <a:r>
              <a:rPr sz="24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4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taxpayers</a:t>
            </a:r>
            <a:r>
              <a:rPr sz="24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will</a:t>
            </a:r>
            <a:r>
              <a:rPr sz="24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foot</a:t>
            </a:r>
            <a:r>
              <a:rPr sz="24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bill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if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subsequently</a:t>
            </a:r>
            <a:r>
              <a:rPr sz="24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goes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belly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up.</a:t>
            </a:r>
            <a:endParaRPr sz="2400" dirty="0">
              <a:latin typeface="Arial"/>
              <a:cs typeface="Arial"/>
            </a:endParaRPr>
          </a:p>
          <a:p>
            <a:pPr marL="469900" marR="5715" lvl="1" indent="-182880" algn="just">
              <a:lnSpc>
                <a:spcPts val="2160"/>
              </a:lnSpc>
              <a:spcBef>
                <a:spcPts val="52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4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000" spc="4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000" spc="43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place</a:t>
            </a:r>
            <a:r>
              <a:rPr sz="2000" spc="4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4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following</a:t>
            </a:r>
            <a:r>
              <a:rPr sz="2000" spc="4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bet:</a:t>
            </a:r>
            <a:r>
              <a:rPr sz="2000" spc="4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Heads,</a:t>
            </a:r>
            <a:r>
              <a:rPr sz="2000" spc="4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4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win;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tails,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taxpayer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loses.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”</a:t>
            </a:r>
            <a:endParaRPr sz="2000" dirty="0">
              <a:latin typeface="Arial"/>
              <a:cs typeface="Arial"/>
            </a:endParaRPr>
          </a:p>
          <a:p>
            <a:pPr marL="469900" indent="-457200" algn="just">
              <a:spcBef>
                <a:spcPts val="250"/>
              </a:spcBef>
              <a:buClr>
                <a:srgbClr val="92A199"/>
              </a:buClr>
              <a:buSzPct val="85416"/>
              <a:buAutoNum type="arabicPeriod" startAt="2"/>
              <a:tabLst>
                <a:tab pos="469900" algn="l"/>
              </a:tabLst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Adverse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Selection</a:t>
            </a:r>
            <a:r>
              <a:rPr sz="24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Government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Net</a:t>
            </a:r>
            <a:endParaRPr sz="2400" dirty="0">
              <a:latin typeface="Arial"/>
              <a:cs typeface="Arial"/>
            </a:endParaRPr>
          </a:p>
          <a:p>
            <a:pPr marL="194945" marR="5080" lvl="1" indent="-182880" algn="just">
              <a:lnSpc>
                <a:spcPct val="9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400" spc="5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depositors</a:t>
            </a:r>
            <a:r>
              <a:rPr sz="2400" spc="5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5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creditors</a:t>
            </a:r>
            <a:r>
              <a:rPr sz="2400" spc="5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protected</a:t>
            </a:r>
            <a:r>
              <a:rPr sz="2400" spc="5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400" spc="5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50" dirty="0">
                <a:solidFill>
                  <a:srgbClr val="292934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government</a:t>
            </a:r>
            <a:r>
              <a:rPr sz="2400" spc="25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safety</a:t>
            </a:r>
            <a:r>
              <a:rPr sz="2400" spc="2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net</a:t>
            </a:r>
            <a:r>
              <a:rPr sz="2400" spc="25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2400" spc="2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little</a:t>
            </a:r>
            <a:r>
              <a:rPr sz="2400" spc="2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reason</a:t>
            </a:r>
            <a:r>
              <a:rPr sz="2400" spc="2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2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impose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discipline</a:t>
            </a:r>
            <a:r>
              <a:rPr sz="2400" spc="434" dirty="0">
                <a:solidFill>
                  <a:srgbClr val="FF0000"/>
                </a:solidFill>
                <a:latin typeface="Arial"/>
                <a:cs typeface="Arial"/>
              </a:rPr>
              <a:t>  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400" spc="430" dirty="0">
                <a:solidFill>
                  <a:srgbClr val="FF0000"/>
                </a:solidFill>
                <a:latin typeface="Arial"/>
                <a:cs typeface="Arial"/>
              </a:rPr>
              <a:t>  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400" spc="440" dirty="0">
                <a:solidFill>
                  <a:srgbClr val="FF0000"/>
                </a:solidFill>
                <a:latin typeface="Arial"/>
                <a:cs typeface="Arial"/>
              </a:rPr>
              <a:t>  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institutions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434" dirty="0">
                <a:solidFill>
                  <a:srgbClr val="292934"/>
                </a:solidFill>
                <a:latin typeface="Arial"/>
                <a:cs typeface="Arial"/>
              </a:rPr>
              <a:t>  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risk-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loving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entrepreneurs</a:t>
            </a:r>
            <a:r>
              <a:rPr sz="2400" spc="180" dirty="0">
                <a:solidFill>
                  <a:srgbClr val="FF0000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might</a:t>
            </a:r>
            <a:r>
              <a:rPr sz="2400" spc="175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find</a:t>
            </a:r>
            <a:r>
              <a:rPr sz="2400" spc="18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18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8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industry</a:t>
            </a:r>
            <a:r>
              <a:rPr sz="2400" spc="18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spc="-50" dirty="0">
                <a:solidFill>
                  <a:srgbClr val="292934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particularly</a:t>
            </a:r>
            <a:r>
              <a:rPr sz="2400" spc="3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attractive</a:t>
            </a:r>
            <a:r>
              <a:rPr sz="2400" spc="3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one-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400" spc="3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know</a:t>
            </a:r>
            <a:r>
              <a:rPr sz="2400" spc="3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400" spc="3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r>
              <a:rPr sz="24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2400" spc="3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able</a:t>
            </a:r>
            <a:r>
              <a:rPr sz="2400" spc="3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engage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highly</a:t>
            </a:r>
            <a:r>
              <a:rPr sz="24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risky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activities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625854"/>
            <a:ext cx="11582400" cy="38696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945" marR="5080" indent="-182880" algn="just">
              <a:spcBef>
                <a:spcPts val="9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Even</a:t>
            </a:r>
            <a:r>
              <a:rPr sz="2200" spc="1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worse,</a:t>
            </a:r>
            <a:r>
              <a:rPr sz="2200" spc="1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200" spc="1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protected</a:t>
            </a:r>
            <a:r>
              <a:rPr sz="2200" spc="1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depositors</a:t>
            </a:r>
            <a:r>
              <a:rPr sz="22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2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creditors</a:t>
            </a:r>
            <a:r>
              <a:rPr sz="2200" spc="1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92934"/>
                </a:solidFill>
                <a:latin typeface="Arial"/>
                <a:cs typeface="Arial"/>
              </a:rPr>
              <a:t>have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2200" spc="3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little</a:t>
            </a:r>
            <a:r>
              <a:rPr sz="2200" spc="3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reason</a:t>
            </a:r>
            <a:r>
              <a:rPr sz="2200" spc="3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200" spc="3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monitor</a:t>
            </a:r>
            <a:r>
              <a:rPr sz="2200" spc="3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3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200" spc="3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institution‟s</a:t>
            </a:r>
            <a:r>
              <a:rPr sz="22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activities,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without</a:t>
            </a:r>
            <a:r>
              <a:rPr sz="22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government</a:t>
            </a:r>
            <a:r>
              <a:rPr sz="22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intervention</a:t>
            </a:r>
            <a:r>
              <a:rPr sz="22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outright</a:t>
            </a:r>
            <a:r>
              <a:rPr sz="2200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crooks</a:t>
            </a:r>
            <a:r>
              <a:rPr sz="2200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might</a:t>
            </a:r>
            <a:r>
              <a:rPr sz="22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also</a:t>
            </a:r>
            <a:r>
              <a:rPr sz="22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292934"/>
                </a:solidFill>
                <a:latin typeface="Arial"/>
                <a:cs typeface="Arial"/>
              </a:rPr>
              <a:t>find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finance</a:t>
            </a:r>
            <a:r>
              <a:rPr sz="2200" spc="3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an</a:t>
            </a:r>
            <a:r>
              <a:rPr sz="2200" spc="3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attractive</a:t>
            </a:r>
            <a:r>
              <a:rPr sz="2200" spc="3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industry</a:t>
            </a:r>
            <a:r>
              <a:rPr sz="2200" spc="3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2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2200" spc="3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activities</a:t>
            </a:r>
            <a:r>
              <a:rPr sz="2200" spc="3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200" spc="3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2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is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easy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2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them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2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get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away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fraud</a:t>
            </a:r>
            <a:r>
              <a:rPr sz="22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2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embezzlement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12700" algn="just">
              <a:spcBef>
                <a:spcPts val="530"/>
              </a:spcBef>
            </a:pPr>
            <a:r>
              <a:rPr sz="2200" spc="-45" dirty="0">
                <a:solidFill>
                  <a:srgbClr val="292934"/>
                </a:solidFill>
                <a:latin typeface="Arial"/>
                <a:cs typeface="Arial"/>
              </a:rPr>
              <a:t>“</a:t>
            </a:r>
            <a:r>
              <a:rPr sz="2200" spc="-45" dirty="0">
                <a:solidFill>
                  <a:srgbClr val="FF0000"/>
                </a:solidFill>
                <a:latin typeface="Arial"/>
                <a:cs typeface="Arial"/>
              </a:rPr>
              <a:t>Too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Big</a:t>
            </a:r>
            <a:r>
              <a:rPr sz="22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2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Fail</a:t>
            </a:r>
            <a:r>
              <a:rPr sz="2200" spc="-20" dirty="0">
                <a:solidFill>
                  <a:srgbClr val="292934"/>
                </a:solidFill>
                <a:latin typeface="Arial"/>
                <a:cs typeface="Arial"/>
              </a:rPr>
              <a:t>”</a:t>
            </a:r>
            <a:endParaRPr sz="2200" dirty="0">
              <a:latin typeface="Arial"/>
              <a:cs typeface="Arial"/>
            </a:endParaRPr>
          </a:p>
          <a:p>
            <a:pPr marL="469900" marR="7620" lvl="1" indent="-182880" algn="just">
              <a:spcBef>
                <a:spcPts val="470"/>
              </a:spcBef>
              <a:buClr>
                <a:srgbClr val="92A199"/>
              </a:buClr>
              <a:buSzPct val="84210"/>
              <a:buChar char="•"/>
              <a:tabLst>
                <a:tab pos="469900" algn="l"/>
              </a:tabLst>
            </a:pP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moral</a:t>
            </a:r>
            <a:r>
              <a:rPr sz="1900" spc="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hazard</a:t>
            </a:r>
            <a:r>
              <a:rPr sz="1900" spc="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created</a:t>
            </a:r>
            <a:r>
              <a:rPr sz="19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19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government</a:t>
            </a:r>
            <a:r>
              <a:rPr sz="1900" spc="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1900" spc="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net</a:t>
            </a:r>
            <a:r>
              <a:rPr sz="1900" spc="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19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desire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1900" spc="2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prevent</a:t>
            </a:r>
            <a:r>
              <a:rPr sz="1900" spc="229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1900" spc="229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1900" spc="2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failures</a:t>
            </a:r>
            <a:r>
              <a:rPr sz="1900" spc="2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1900" spc="2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presented</a:t>
            </a:r>
            <a:r>
              <a:rPr sz="1900" spc="2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regulators</a:t>
            </a:r>
            <a:r>
              <a:rPr sz="1900" spc="4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1900" spc="4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particular</a:t>
            </a:r>
            <a:r>
              <a:rPr sz="1900" spc="4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quandary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1900" spc="4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Arial"/>
                <a:cs typeface="Arial"/>
              </a:rPr>
              <a:t>too-big-to-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fail</a:t>
            </a:r>
            <a:r>
              <a:rPr sz="1900" spc="4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problem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19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sz="19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regulators</a:t>
            </a:r>
            <a:r>
              <a:rPr sz="1900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sz="1900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reluctant</a:t>
            </a:r>
            <a:r>
              <a:rPr sz="1900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900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close</a:t>
            </a:r>
            <a:r>
              <a:rPr sz="1900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down</a:t>
            </a:r>
            <a:r>
              <a:rPr sz="1900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large</a:t>
            </a:r>
            <a:r>
              <a:rPr sz="1900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1900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Arial"/>
                <a:cs typeface="Arial"/>
              </a:rPr>
              <a:t>institutions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1900" spc="1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impose</a:t>
            </a:r>
            <a:r>
              <a:rPr sz="1900" spc="1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losses</a:t>
            </a:r>
            <a:r>
              <a:rPr sz="1900" spc="1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1900" spc="1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1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institution‟s</a:t>
            </a:r>
            <a:r>
              <a:rPr sz="1900" spc="1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depositors</a:t>
            </a:r>
            <a:r>
              <a:rPr sz="1900" spc="1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1900" spc="1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creditors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19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doing</a:t>
            </a:r>
            <a:r>
              <a:rPr sz="19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so</a:t>
            </a:r>
            <a:r>
              <a:rPr sz="19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might</a:t>
            </a:r>
            <a:r>
              <a:rPr sz="19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precipitate</a:t>
            </a:r>
            <a:r>
              <a:rPr sz="19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9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19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Arial"/>
                <a:cs typeface="Arial"/>
              </a:rPr>
              <a:t>crisis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1900" dirty="0">
              <a:latin typeface="Arial"/>
              <a:cs typeface="Arial"/>
            </a:endParaRPr>
          </a:p>
          <a:p>
            <a:pPr marL="744220" marR="7620" lvl="2" indent="-182880" algn="just">
              <a:spcBef>
                <a:spcPts val="420"/>
              </a:spcBef>
              <a:buClr>
                <a:srgbClr val="92A199"/>
              </a:buClr>
              <a:buSzPct val="88235"/>
              <a:buChar char="•"/>
              <a:tabLst>
                <a:tab pos="744855" algn="l"/>
              </a:tabLst>
            </a:pP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Knowing</a:t>
            </a:r>
            <a:r>
              <a:rPr sz="17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17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7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17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17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will</a:t>
            </a:r>
            <a:r>
              <a:rPr sz="17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17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bailed</a:t>
            </a:r>
            <a:r>
              <a:rPr sz="1700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out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17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creditors</a:t>
            </a:r>
            <a:r>
              <a:rPr sz="1700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17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Arial"/>
                <a:cs typeface="Arial"/>
              </a:rPr>
              <a:t>little 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incentive</a:t>
            </a:r>
            <a:r>
              <a:rPr sz="1700" spc="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700" spc="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monitor</a:t>
            </a:r>
            <a:r>
              <a:rPr sz="1700" spc="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7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17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17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pull</a:t>
            </a:r>
            <a:r>
              <a:rPr sz="17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17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money</a:t>
            </a:r>
            <a:r>
              <a:rPr sz="17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out</a:t>
            </a:r>
            <a:r>
              <a:rPr sz="17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when</a:t>
            </a:r>
            <a:r>
              <a:rPr sz="17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700" spc="-25" dirty="0">
                <a:solidFill>
                  <a:srgbClr val="292934"/>
                </a:solidFill>
                <a:latin typeface="Arial"/>
                <a:cs typeface="Arial"/>
              </a:rPr>
              <a:t>the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17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17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taking</a:t>
            </a:r>
            <a:r>
              <a:rPr sz="17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17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excessive</a:t>
            </a:r>
            <a:r>
              <a:rPr sz="17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17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905000"/>
            <a:ext cx="11582399" cy="3628301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69900" indent="-457200" algn="just">
              <a:spcBef>
                <a:spcPts val="385"/>
              </a:spcBef>
              <a:buClr>
                <a:srgbClr val="92A199"/>
              </a:buClr>
              <a:buSzPct val="85416"/>
              <a:buAutoNum type="arabicPeriod" startAt="3"/>
              <a:tabLst>
                <a:tab pos="469900" algn="l"/>
              </a:tabLst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Consolidation</a:t>
            </a:r>
            <a:r>
              <a:rPr sz="2400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Government</a:t>
            </a:r>
            <a:r>
              <a:rPr sz="2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Net</a:t>
            </a:r>
            <a:endParaRPr sz="2400" dirty="0">
              <a:latin typeface="Arial"/>
              <a:cs typeface="Arial"/>
            </a:endParaRPr>
          </a:p>
          <a:p>
            <a:pPr marL="194945" marR="8890" lvl="1" indent="-182880" algn="just">
              <a:lnSpc>
                <a:spcPct val="901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5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consolidation</a:t>
            </a:r>
            <a:r>
              <a:rPr sz="2400" spc="5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2400" spc="5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been</a:t>
            </a:r>
            <a:r>
              <a:rPr sz="2400" spc="5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proceeding</a:t>
            </a:r>
            <a:r>
              <a:rPr sz="2400" spc="5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at</a:t>
            </a:r>
            <a:r>
              <a:rPr sz="24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5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rapid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pace,</a:t>
            </a:r>
            <a:r>
              <a:rPr sz="2400" spc="3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leading</a:t>
            </a:r>
            <a:r>
              <a:rPr sz="2400" spc="3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3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both</a:t>
            </a:r>
            <a:r>
              <a:rPr sz="2400" spc="3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larger</a:t>
            </a:r>
            <a:r>
              <a:rPr sz="2400" spc="3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3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more</a:t>
            </a:r>
            <a:r>
              <a:rPr sz="2400" spc="3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complex</a:t>
            </a:r>
            <a:r>
              <a:rPr sz="2400" spc="3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financial organizations.</a:t>
            </a:r>
            <a:endParaRPr sz="2400" dirty="0">
              <a:latin typeface="Arial"/>
              <a:cs typeface="Arial"/>
            </a:endParaRPr>
          </a:p>
          <a:p>
            <a:pPr marL="194945" marR="8255" lvl="1" indent="-182880" algn="just">
              <a:lnSpc>
                <a:spcPct val="9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consolidation</a:t>
            </a:r>
            <a:r>
              <a:rPr sz="24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poses</a:t>
            </a:r>
            <a:r>
              <a:rPr sz="24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two</a:t>
            </a:r>
            <a:r>
              <a:rPr sz="24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challenges</a:t>
            </a:r>
            <a:r>
              <a:rPr sz="24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regulation</a:t>
            </a:r>
            <a:r>
              <a:rPr sz="2400" spc="5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400" spc="5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5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5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existence</a:t>
            </a:r>
            <a:r>
              <a:rPr sz="2400" spc="5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5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5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government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safety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net.</a:t>
            </a:r>
            <a:endParaRPr sz="2400" dirty="0">
              <a:latin typeface="Arial"/>
              <a:cs typeface="Arial"/>
            </a:endParaRPr>
          </a:p>
          <a:p>
            <a:pPr marL="469900" marR="5080" lvl="2" indent="-182880" algn="just">
              <a:lnSpc>
                <a:spcPct val="9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First,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increased</a:t>
            </a:r>
            <a:r>
              <a:rPr sz="2000" spc="8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size</a:t>
            </a:r>
            <a:r>
              <a:rPr sz="2000" spc="7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resulting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from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4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consolidation</a:t>
            </a:r>
            <a:r>
              <a:rPr sz="2000" spc="43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increases</a:t>
            </a:r>
            <a:r>
              <a:rPr sz="2000" spc="43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4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too-big-to-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fail</a:t>
            </a:r>
            <a:r>
              <a:rPr sz="2000" spc="434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problem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,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0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there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now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more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large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whose</a:t>
            </a:r>
            <a:r>
              <a:rPr sz="20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failure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would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expose</a:t>
            </a:r>
            <a:r>
              <a:rPr sz="2000" spc="2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2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2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system</a:t>
            </a:r>
            <a:r>
              <a:rPr sz="2000" spc="2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systemic</a:t>
            </a:r>
            <a:r>
              <a:rPr sz="2000" spc="2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(system-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wide)</a:t>
            </a:r>
            <a:r>
              <a:rPr sz="2000" spc="2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risk.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Thus,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more</a:t>
            </a:r>
            <a:r>
              <a:rPr sz="20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0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likely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20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treated</a:t>
            </a:r>
            <a:r>
              <a:rPr sz="20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0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too</a:t>
            </a:r>
            <a:r>
              <a:rPr sz="20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big</a:t>
            </a:r>
            <a:r>
              <a:rPr sz="20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fail,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2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2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increased</a:t>
            </a:r>
            <a:r>
              <a:rPr sz="2000" spc="254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moral</a:t>
            </a:r>
            <a:r>
              <a:rPr sz="2000" spc="27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hazard</a:t>
            </a:r>
            <a:r>
              <a:rPr sz="2000" spc="26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incentives</a:t>
            </a:r>
            <a:r>
              <a:rPr sz="2000" spc="26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000" spc="2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these</a:t>
            </a:r>
            <a:r>
              <a:rPr sz="2000" spc="2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large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take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greater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increases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fragility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system.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9600" y="1863828"/>
            <a:ext cx="10363200" cy="22294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spcBef>
                <a:spcPts val="105"/>
              </a:spcBef>
            </a:pP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Second, </a:t>
            </a:r>
            <a:r>
              <a:rPr lang="en-GB" sz="2400" spc="-10" dirty="0">
                <a:solidFill>
                  <a:srgbClr val="FF0000"/>
                </a:solidFill>
                <a:latin typeface="Arial"/>
                <a:cs typeface="Arial"/>
              </a:rPr>
              <a:t>financial consolidation</a:t>
            </a:r>
            <a:r>
              <a:rPr lang="en-GB"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lang="en-GB" sz="2400" spc="-25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lang="en-GB" sz="2400" spc="-10" dirty="0">
                <a:solidFill>
                  <a:srgbClr val="FF0000"/>
                </a:solidFill>
                <a:latin typeface="Arial"/>
                <a:cs typeface="Arial"/>
              </a:rPr>
              <a:t>banks </a:t>
            </a:r>
            <a:r>
              <a:rPr lang="en-GB" sz="2400" spc="-20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lang="en-GB" sz="2400" spc="-10" dirty="0">
                <a:solidFill>
                  <a:srgbClr val="FF0000"/>
                </a:solidFill>
                <a:latin typeface="Arial"/>
                <a:cs typeface="Arial"/>
              </a:rPr>
              <a:t>other financial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services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firms</a:t>
            </a:r>
            <a:r>
              <a:rPr sz="24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means</a:t>
            </a:r>
            <a:r>
              <a:rPr sz="24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government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400" spc="5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net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may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be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extended</a:t>
            </a:r>
            <a:r>
              <a:rPr sz="2400" spc="27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27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sz="2400" spc="27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activities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2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such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securities</a:t>
            </a:r>
            <a:r>
              <a:rPr sz="2400" spc="2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underwriting,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insurance,</a:t>
            </a:r>
            <a:r>
              <a:rPr sz="2400"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2400"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real</a:t>
            </a:r>
            <a:r>
              <a:rPr sz="24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estate</a:t>
            </a:r>
            <a:r>
              <a:rPr sz="2400"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activities,</a:t>
            </a:r>
            <a:r>
              <a:rPr sz="24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occurred</a:t>
            </a:r>
            <a:r>
              <a:rPr sz="2400"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during</a:t>
            </a:r>
            <a:r>
              <a:rPr sz="2400" spc="3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global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crisis.</a:t>
            </a:r>
            <a:r>
              <a:rPr sz="24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24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situation</a:t>
            </a:r>
            <a:r>
              <a:rPr sz="24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increases</a:t>
            </a:r>
            <a:r>
              <a:rPr sz="24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incentives</a:t>
            </a:r>
            <a:r>
              <a:rPr sz="2400" spc="2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2400" spc="1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greater</a:t>
            </a:r>
            <a:r>
              <a:rPr sz="2400" spc="20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risk-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taking</a:t>
            </a:r>
            <a:r>
              <a:rPr sz="2400" spc="2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2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these</a:t>
            </a:r>
            <a:r>
              <a:rPr sz="2400" spc="2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activities,</a:t>
            </a:r>
            <a:r>
              <a:rPr sz="24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sz="2400" spc="2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spc="2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also</a:t>
            </a:r>
            <a:r>
              <a:rPr sz="2400" spc="2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weaken</a:t>
            </a:r>
            <a:r>
              <a:rPr sz="2400" spc="2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fabric</a:t>
            </a:r>
            <a:r>
              <a:rPr sz="2400" spc="22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system.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752600"/>
            <a:ext cx="11277600" cy="5137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 algn="just"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There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2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eight</a:t>
            </a:r>
            <a:r>
              <a:rPr sz="24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basic</a:t>
            </a:r>
            <a:r>
              <a:rPr sz="24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types</a:t>
            </a:r>
            <a:r>
              <a:rPr sz="24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2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400" spc="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regulation</a:t>
            </a:r>
            <a:r>
              <a:rPr sz="2400" spc="3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aimed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at</a:t>
            </a:r>
            <a:r>
              <a:rPr sz="2400" spc="484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lessening</a:t>
            </a:r>
            <a:r>
              <a:rPr sz="2400" spc="4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asymmetric</a:t>
            </a:r>
            <a:r>
              <a:rPr sz="2400" spc="4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information</a:t>
            </a:r>
            <a:r>
              <a:rPr sz="2400" spc="4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problems</a:t>
            </a:r>
            <a:r>
              <a:rPr sz="2400" spc="4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and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excessive risk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taking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system:</a:t>
            </a:r>
            <a:endParaRPr sz="2400" dirty="0">
              <a:latin typeface="Arial"/>
              <a:cs typeface="Arial"/>
            </a:endParaRPr>
          </a:p>
          <a:p>
            <a:pPr marL="527685" indent="-515620" algn="just">
              <a:spcBef>
                <a:spcPts val="580"/>
              </a:spcBef>
              <a:buClr>
                <a:srgbClr val="92A199"/>
              </a:buClr>
              <a:buSzPct val="85416"/>
              <a:buAutoNum type="romanLcPeriod"/>
              <a:tabLst>
                <a:tab pos="52832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Restrictions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asset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holdings</a:t>
            </a:r>
            <a:endParaRPr sz="2400" dirty="0">
              <a:latin typeface="Arial"/>
              <a:cs typeface="Arial"/>
            </a:endParaRPr>
          </a:p>
          <a:p>
            <a:pPr marL="527685" indent="-515620" algn="just">
              <a:spcBef>
                <a:spcPts val="575"/>
              </a:spcBef>
              <a:buClr>
                <a:srgbClr val="92A199"/>
              </a:buClr>
              <a:buSzPct val="85416"/>
              <a:buAutoNum type="romanLcPeriod"/>
              <a:tabLst>
                <a:tab pos="52832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Capital</a:t>
            </a:r>
            <a:r>
              <a:rPr sz="2400" spc="-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requirements</a:t>
            </a:r>
            <a:endParaRPr sz="2400" dirty="0">
              <a:latin typeface="Arial"/>
              <a:cs typeface="Arial"/>
            </a:endParaRPr>
          </a:p>
          <a:p>
            <a:pPr marL="527685" indent="-515620" algn="just">
              <a:spcBef>
                <a:spcPts val="580"/>
              </a:spcBef>
              <a:buClr>
                <a:srgbClr val="92A199"/>
              </a:buClr>
              <a:buSzPct val="85416"/>
              <a:buAutoNum type="romanLcPeriod"/>
              <a:tabLst>
                <a:tab pos="52832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Prompt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corrective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action</a:t>
            </a:r>
            <a:endParaRPr sz="2400" dirty="0">
              <a:latin typeface="Arial"/>
              <a:cs typeface="Arial"/>
            </a:endParaRPr>
          </a:p>
          <a:p>
            <a:pPr marL="527685" indent="-515620" algn="just">
              <a:spcBef>
                <a:spcPts val="575"/>
              </a:spcBef>
              <a:buClr>
                <a:srgbClr val="92A199"/>
              </a:buClr>
              <a:buSzPct val="85416"/>
              <a:buAutoNum type="romanLcPeriod"/>
              <a:tabLst>
                <a:tab pos="52832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Chartering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examination</a:t>
            </a:r>
            <a:endParaRPr sz="2400" dirty="0">
              <a:latin typeface="Arial"/>
              <a:cs typeface="Arial"/>
            </a:endParaRPr>
          </a:p>
          <a:p>
            <a:pPr marL="527685" indent="-515620" algn="just">
              <a:spcBef>
                <a:spcPts val="575"/>
              </a:spcBef>
              <a:buClr>
                <a:srgbClr val="92A199"/>
              </a:buClr>
              <a:buSzPct val="85416"/>
              <a:buAutoNum type="romanLcPeriod"/>
              <a:tabLst>
                <a:tab pos="52832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Assessment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management</a:t>
            </a:r>
            <a:endParaRPr sz="2400" dirty="0">
              <a:latin typeface="Arial"/>
              <a:cs typeface="Arial"/>
            </a:endParaRPr>
          </a:p>
          <a:p>
            <a:pPr marL="527685" indent="-515620" algn="just">
              <a:spcBef>
                <a:spcPts val="575"/>
              </a:spcBef>
              <a:buClr>
                <a:srgbClr val="92A199"/>
              </a:buClr>
              <a:buSzPct val="85416"/>
              <a:buAutoNum type="romanLcPeriod"/>
              <a:tabLst>
                <a:tab pos="52832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Disclosure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requirements</a:t>
            </a:r>
            <a:endParaRPr sz="2400" dirty="0">
              <a:latin typeface="Arial"/>
              <a:cs typeface="Arial"/>
            </a:endParaRPr>
          </a:p>
          <a:p>
            <a:pPr marL="527685" indent="-515620" algn="just">
              <a:spcBef>
                <a:spcPts val="580"/>
              </a:spcBef>
              <a:buClr>
                <a:srgbClr val="92A199"/>
              </a:buClr>
              <a:buSzPct val="85416"/>
              <a:buAutoNum type="romanLcPeriod"/>
              <a:tabLst>
                <a:tab pos="52832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Consumer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protection,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endParaRPr sz="2400" dirty="0">
              <a:latin typeface="Arial"/>
              <a:cs typeface="Arial"/>
            </a:endParaRPr>
          </a:p>
          <a:p>
            <a:pPr marL="527685" indent="-515620" algn="just">
              <a:spcBef>
                <a:spcPts val="575"/>
              </a:spcBef>
              <a:buClr>
                <a:srgbClr val="92A199"/>
              </a:buClr>
              <a:buSzPct val="85416"/>
              <a:buAutoNum type="romanLcPeriod"/>
              <a:tabLst>
                <a:tab pos="52832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Restrictions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competition.</a:t>
            </a:r>
            <a:endParaRPr lang="en-US" sz="2400" spc="-10" dirty="0">
              <a:solidFill>
                <a:srgbClr val="292934"/>
              </a:solidFill>
              <a:latin typeface="Arial"/>
              <a:cs typeface="Arial"/>
            </a:endParaRPr>
          </a:p>
          <a:p>
            <a:pPr marL="12065" algn="just">
              <a:spcBef>
                <a:spcPts val="575"/>
              </a:spcBef>
              <a:buClr>
                <a:srgbClr val="92A199"/>
              </a:buClr>
              <a:buSzPct val="85416"/>
              <a:tabLst>
                <a:tab pos="528320" algn="l"/>
              </a:tabLst>
            </a:pPr>
            <a:r>
              <a:rPr lang="en-US" sz="2400" dirty="0">
                <a:latin typeface="Arial"/>
                <a:cs typeface="Arial"/>
                <a:hlinkClick r:id="rId3"/>
              </a:rPr>
              <a:t>https://market.nbebank.com/directives/bankingbusiness1.html</a:t>
            </a:r>
            <a:r>
              <a:rPr lang="en-US" sz="2400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F8D47-BC4D-CB0F-B0D3-B4DDC884A893}"/>
              </a:ext>
            </a:extLst>
          </p:cNvPr>
          <p:cNvSpPr txBox="1"/>
          <p:nvPr/>
        </p:nvSpPr>
        <p:spPr>
          <a:xfrm>
            <a:off x="381000" y="9906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Types of Financial Regulation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00" y="1143000"/>
            <a:ext cx="11620500" cy="43909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indent="-215265">
              <a:spcBef>
                <a:spcPts val="100"/>
              </a:spcBef>
              <a:buAutoNum type="romanLcPeriod"/>
              <a:tabLst>
                <a:tab pos="227965" algn="l"/>
              </a:tabLst>
            </a:pPr>
            <a:r>
              <a:rPr sz="2400" b="1" spc="-110" dirty="0">
                <a:solidFill>
                  <a:srgbClr val="D2523B"/>
                </a:solidFill>
                <a:latin typeface="Arial"/>
                <a:cs typeface="Arial"/>
              </a:rPr>
              <a:t>Restrictions</a:t>
            </a:r>
            <a:r>
              <a:rPr sz="2400" b="1" spc="-19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D2523B"/>
                </a:solidFill>
                <a:latin typeface="Arial"/>
                <a:cs typeface="Arial"/>
              </a:rPr>
              <a:t>on</a:t>
            </a:r>
            <a:r>
              <a:rPr sz="2400" b="1" spc="-27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100" dirty="0">
                <a:solidFill>
                  <a:srgbClr val="D2523B"/>
                </a:solidFill>
                <a:latin typeface="Arial"/>
                <a:cs typeface="Arial"/>
              </a:rPr>
              <a:t>Asset</a:t>
            </a:r>
            <a:r>
              <a:rPr sz="2400" b="1" spc="-15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D2523B"/>
                </a:solidFill>
                <a:latin typeface="Arial"/>
                <a:cs typeface="Arial"/>
              </a:rPr>
              <a:t>Holdings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25"/>
              </a:spcBef>
              <a:buClr>
                <a:srgbClr val="D2523B"/>
              </a:buClr>
              <a:buFont typeface="Arial"/>
              <a:buAutoNum type="romanLcPeriod"/>
            </a:pPr>
            <a:endParaRPr sz="2950" dirty="0">
              <a:latin typeface="Arial"/>
              <a:cs typeface="Arial"/>
            </a:endParaRPr>
          </a:p>
          <a:p>
            <a:pPr marL="194945" marR="6350" lvl="1" indent="-182880" algn="just"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48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moral</a:t>
            </a:r>
            <a:r>
              <a:rPr sz="2400" spc="5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hazard</a:t>
            </a:r>
            <a:r>
              <a:rPr sz="2400" spc="5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associated</a:t>
            </a:r>
            <a:r>
              <a:rPr sz="2400" spc="5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400" spc="5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4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government</a:t>
            </a:r>
            <a:r>
              <a:rPr sz="2400" spc="5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safety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net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encourages</a:t>
            </a:r>
            <a:r>
              <a:rPr sz="2400" spc="1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too</a:t>
            </a:r>
            <a:r>
              <a:rPr sz="2400" spc="1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much</a:t>
            </a:r>
            <a:r>
              <a:rPr sz="2400" spc="1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2400" spc="13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taking</a:t>
            </a:r>
            <a:r>
              <a:rPr sz="2400" spc="1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400" spc="1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1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part</a:t>
            </a:r>
            <a:r>
              <a:rPr sz="2400" spc="1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of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institutions.</a:t>
            </a:r>
            <a:endParaRPr sz="2400" dirty="0">
              <a:latin typeface="Arial"/>
              <a:cs typeface="Arial"/>
            </a:endParaRPr>
          </a:p>
          <a:p>
            <a:pPr marL="194945" marR="7620" lvl="1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regulations</a:t>
            </a:r>
            <a:r>
              <a:rPr sz="24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restrict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asset</a:t>
            </a:r>
            <a:r>
              <a:rPr sz="24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holdings</a:t>
            </a:r>
            <a:r>
              <a:rPr sz="24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directed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at</a:t>
            </a:r>
            <a:r>
              <a:rPr sz="24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minimizing</a:t>
            </a:r>
            <a:r>
              <a:rPr sz="2400" spc="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this</a:t>
            </a:r>
            <a:r>
              <a:rPr sz="2400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moral</a:t>
            </a:r>
            <a:r>
              <a:rPr sz="2400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hazard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cost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taxpayers dearly.</a:t>
            </a:r>
            <a:endParaRPr sz="2400" dirty="0">
              <a:latin typeface="Arial"/>
              <a:cs typeface="Arial"/>
            </a:endParaRPr>
          </a:p>
          <a:p>
            <a:pPr marL="194945" marR="6985" lvl="1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Even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absence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government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safety</a:t>
            </a:r>
            <a:r>
              <a:rPr sz="2400" spc="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net,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5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still</a:t>
            </a:r>
            <a:r>
              <a:rPr sz="2400" spc="5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2400" spc="5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5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incentive</a:t>
            </a:r>
            <a:r>
              <a:rPr sz="2400" spc="5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4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take</a:t>
            </a:r>
            <a:r>
              <a:rPr sz="2400" spc="5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400" spc="5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too</a:t>
            </a:r>
            <a:r>
              <a:rPr sz="2400" spc="5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much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risk.</a:t>
            </a:r>
            <a:endParaRPr sz="2400" dirty="0">
              <a:latin typeface="Arial"/>
              <a:cs typeface="Arial"/>
            </a:endParaRPr>
          </a:p>
          <a:p>
            <a:pPr marL="194945" marR="5080" lvl="1" indent="-182880" algn="just"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4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24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most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prone</a:t>
            </a:r>
            <a:r>
              <a:rPr sz="2400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panics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4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subjected</a:t>
            </a:r>
            <a:r>
              <a:rPr sz="24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strict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regulations</a:t>
            </a:r>
            <a:r>
              <a:rPr sz="2400" spc="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sz="2400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restrict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holdings</a:t>
            </a:r>
            <a:r>
              <a:rPr sz="24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risky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assets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such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common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stocks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905000"/>
            <a:ext cx="11582400" cy="255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6350" indent="-182880" algn="just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3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regulations</a:t>
            </a:r>
            <a:r>
              <a:rPr sz="2400" spc="3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also</a:t>
            </a:r>
            <a:r>
              <a:rPr sz="2400" spc="3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promote</a:t>
            </a:r>
            <a:r>
              <a:rPr sz="2400" spc="33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diversification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3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which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reduces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limiting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dollar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amounts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loans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particular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categories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individual</a:t>
            </a:r>
            <a:r>
              <a:rPr sz="24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borrowers.</a:t>
            </a:r>
            <a:endParaRPr sz="2400" dirty="0">
              <a:latin typeface="Arial"/>
              <a:cs typeface="Arial"/>
            </a:endParaRPr>
          </a:p>
          <a:p>
            <a:pPr marL="469900" marR="5080" lvl="1" indent="-182880" algn="just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0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extension</a:t>
            </a:r>
            <a:r>
              <a:rPr sz="20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government</a:t>
            </a:r>
            <a:r>
              <a:rPr sz="20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safety</a:t>
            </a:r>
            <a:r>
              <a:rPr sz="20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net</a:t>
            </a:r>
            <a:r>
              <a:rPr sz="20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during</a:t>
            </a:r>
            <a:r>
              <a:rPr sz="20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global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crisis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calls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0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regulatory</a:t>
            </a:r>
            <a:r>
              <a:rPr sz="20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reform</a:t>
            </a:r>
            <a:r>
              <a:rPr sz="20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its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aftermath,</a:t>
            </a:r>
            <a:r>
              <a:rPr sz="20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it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000" spc="1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likely</a:t>
            </a:r>
            <a:r>
              <a:rPr sz="2000" spc="1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1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nonbank</a:t>
            </a:r>
            <a:r>
              <a:rPr sz="2000" spc="20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000" spc="19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institutions</a:t>
            </a:r>
            <a:r>
              <a:rPr sz="2000" spc="19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may</a:t>
            </a:r>
            <a:r>
              <a:rPr sz="2000" spc="18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face</a:t>
            </a:r>
            <a:r>
              <a:rPr sz="2000" spc="19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greater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restrictions</a:t>
            </a:r>
            <a:r>
              <a:rPr sz="20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holdings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risky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assets</a:t>
            </a:r>
            <a:r>
              <a:rPr sz="20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future.</a:t>
            </a:r>
            <a:endParaRPr sz="2000" dirty="0">
              <a:latin typeface="Arial"/>
              <a:cs typeface="Arial"/>
            </a:endParaRPr>
          </a:p>
          <a:p>
            <a:pPr marL="194945" marR="5080" indent="-182880" algn="just"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danger</a:t>
            </a:r>
            <a:r>
              <a:rPr sz="2400" spc="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exists,</a:t>
            </a:r>
            <a:r>
              <a:rPr sz="2400" spc="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however,</a:t>
            </a:r>
            <a:r>
              <a:rPr sz="2400" spc="4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4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these</a:t>
            </a:r>
            <a:r>
              <a:rPr sz="2400" spc="4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restrictions</a:t>
            </a:r>
            <a:r>
              <a:rPr sz="2400" spc="4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may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become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onerous  that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efficiency  of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system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will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impaired.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70" dirty="0"/>
              <a:t>ii.</a:t>
            </a:r>
            <a:r>
              <a:rPr spc="-210" dirty="0"/>
              <a:t> </a:t>
            </a:r>
            <a:r>
              <a:rPr spc="-100" dirty="0"/>
              <a:t>Capital</a:t>
            </a:r>
            <a:r>
              <a:rPr spc="-170" dirty="0"/>
              <a:t> </a:t>
            </a:r>
            <a:r>
              <a:rPr spc="-85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625853"/>
            <a:ext cx="11430000" cy="3567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6350" indent="-182880" algn="just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Government-imposed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capital</a:t>
            </a:r>
            <a:r>
              <a:rPr sz="2400" spc="10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requirements</a:t>
            </a:r>
            <a:r>
              <a:rPr sz="2400" spc="114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another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way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minimizing</a:t>
            </a:r>
            <a:r>
              <a:rPr sz="24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moral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hazard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at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institutions.</a:t>
            </a:r>
            <a:endParaRPr sz="2400" dirty="0">
              <a:latin typeface="Arial"/>
              <a:cs typeface="Arial"/>
            </a:endParaRPr>
          </a:p>
          <a:p>
            <a:pPr marL="194945" marR="5080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When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2400" spc="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forced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hold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spc="9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large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amount</a:t>
            </a:r>
            <a:r>
              <a:rPr sz="2400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equity</a:t>
            </a:r>
            <a:r>
              <a:rPr sz="2400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capital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has</a:t>
            </a:r>
            <a:r>
              <a:rPr sz="2400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more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lose</a:t>
            </a:r>
            <a:r>
              <a:rPr sz="2400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if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sz="2400" spc="17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fails</a:t>
            </a:r>
            <a:r>
              <a:rPr sz="2400" spc="16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1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spc="1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thus</a:t>
            </a:r>
            <a:r>
              <a:rPr sz="2400" spc="1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more</a:t>
            </a:r>
            <a:r>
              <a:rPr sz="2400" spc="1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likely</a:t>
            </a:r>
            <a:r>
              <a:rPr sz="2400" spc="1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1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pursue</a:t>
            </a:r>
            <a:r>
              <a:rPr sz="2400" spc="1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less</a:t>
            </a:r>
            <a:r>
              <a:rPr sz="2400" spc="1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risky activities.</a:t>
            </a:r>
            <a:endParaRPr sz="2400" dirty="0">
              <a:latin typeface="Arial"/>
              <a:cs typeface="Arial"/>
            </a:endParaRPr>
          </a:p>
          <a:p>
            <a:pPr marL="194945" marR="5080" indent="-182880" algn="just"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Capital</a:t>
            </a:r>
            <a:r>
              <a:rPr sz="2400" spc="4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functions</a:t>
            </a:r>
            <a:r>
              <a:rPr sz="2400" spc="45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4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4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cushion</a:t>
            </a:r>
            <a:r>
              <a:rPr sz="2400" spc="4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when</a:t>
            </a:r>
            <a:r>
              <a:rPr sz="2400" spc="4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bad</a:t>
            </a:r>
            <a:r>
              <a:rPr sz="2400" spc="4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shocks</a:t>
            </a:r>
            <a:r>
              <a:rPr sz="2400" spc="4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occur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,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making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less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likely  that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  will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fail,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thereby</a:t>
            </a:r>
            <a:r>
              <a:rPr sz="2400" spc="5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directly</a:t>
            </a:r>
            <a:r>
              <a:rPr sz="2400" spc="5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adding</a:t>
            </a:r>
            <a:r>
              <a:rPr sz="2400" spc="5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5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safety</a:t>
            </a:r>
            <a:r>
              <a:rPr sz="24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5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soundness</a:t>
            </a:r>
            <a:r>
              <a:rPr sz="2400" spc="5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of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institutions.</a:t>
            </a:r>
            <a:endParaRPr sz="2400" dirty="0">
              <a:latin typeface="Arial"/>
              <a:cs typeface="Arial"/>
            </a:endParaRPr>
          </a:p>
          <a:p>
            <a:pPr marL="195580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Capital requirements for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take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two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forms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625853"/>
            <a:ext cx="11277600" cy="4306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 algn="just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first</a:t>
            </a:r>
            <a:r>
              <a:rPr sz="2400" spc="2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r>
              <a:rPr sz="2400" spc="2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spc="2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based</a:t>
            </a:r>
            <a:r>
              <a:rPr sz="2400" spc="2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400"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leverage</a:t>
            </a:r>
            <a:r>
              <a:rPr sz="2400" spc="2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ratio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2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amount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capital</a:t>
            </a:r>
            <a:r>
              <a:rPr sz="2400" spc="1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divided</a:t>
            </a:r>
            <a:r>
              <a:rPr sz="2400" spc="1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by</a:t>
            </a:r>
            <a:r>
              <a:rPr sz="2400" spc="1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1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bank‟s</a:t>
            </a:r>
            <a:r>
              <a:rPr sz="2400" spc="14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total</a:t>
            </a:r>
            <a:r>
              <a:rPr sz="2400" spc="1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assets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1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be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classified</a:t>
            </a:r>
            <a:r>
              <a:rPr sz="24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well</a:t>
            </a:r>
            <a:r>
              <a:rPr sz="2400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capitalized,</a:t>
            </a:r>
            <a:r>
              <a:rPr sz="24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bank‟s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leverage</a:t>
            </a:r>
            <a:r>
              <a:rPr sz="2400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ratio</a:t>
            </a:r>
            <a:r>
              <a:rPr sz="2400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must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exceed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5%.</a:t>
            </a:r>
            <a:endParaRPr sz="2400" dirty="0">
              <a:latin typeface="Arial"/>
              <a:cs typeface="Arial"/>
            </a:endParaRPr>
          </a:p>
          <a:p>
            <a:pPr marL="194945" marR="6985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Regulators</a:t>
            </a:r>
            <a:r>
              <a:rPr sz="24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5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also</a:t>
            </a:r>
            <a:r>
              <a:rPr sz="2400" spc="5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become</a:t>
            </a:r>
            <a:r>
              <a:rPr sz="2400" spc="5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increasingly</a:t>
            </a:r>
            <a:r>
              <a:rPr sz="2400" spc="5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worried</a:t>
            </a:r>
            <a:r>
              <a:rPr sz="2400" spc="5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about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increase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292934"/>
                </a:solidFill>
                <a:latin typeface="Arial"/>
                <a:cs typeface="Arial"/>
              </a:rPr>
              <a:t>banks‟</a:t>
            </a:r>
            <a:r>
              <a:rPr sz="2400" spc="-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off-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balance-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sheet</a:t>
            </a:r>
            <a:r>
              <a:rPr sz="24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activities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195580" indent="-182880" algn="just">
              <a:spcBef>
                <a:spcPts val="575"/>
              </a:spcBef>
              <a:buClr>
                <a:srgbClr val="92A199"/>
              </a:buClr>
              <a:buSzPct val="85416"/>
              <a:buFontTx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help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combat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problems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risky  assets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off-</a:t>
            </a: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 balance-</a:t>
            </a:r>
            <a:r>
              <a:rPr lang="en-GB" sz="2400" spc="-20" dirty="0">
                <a:solidFill>
                  <a:srgbClr val="292934"/>
                </a:solidFill>
                <a:latin typeface="Arial"/>
                <a:cs typeface="Arial"/>
              </a:rPr>
              <a:t>sheet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	 </a:t>
            </a: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activities, banking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officials from  industrialized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nations agreed </a:t>
            </a:r>
            <a:r>
              <a:rPr lang="en-GB" sz="2400" spc="-25" dirty="0">
                <a:solidFill>
                  <a:srgbClr val="292934"/>
                </a:solidFill>
                <a:latin typeface="Arial"/>
                <a:cs typeface="Arial"/>
              </a:rPr>
              <a:t>to set up the </a:t>
            </a:r>
            <a:r>
              <a:rPr lang="en-GB" sz="2400" spc="-10" dirty="0">
                <a:solidFill>
                  <a:srgbClr val="FF0000"/>
                </a:solidFill>
                <a:latin typeface="Arial"/>
                <a:cs typeface="Arial"/>
              </a:rPr>
              <a:t>Basel </a:t>
            </a:r>
            <a:r>
              <a:rPr lang="en-GB" sz="2400" dirty="0">
                <a:solidFill>
                  <a:srgbClr val="FF0000"/>
                </a:solidFill>
                <a:latin typeface="Arial"/>
                <a:cs typeface="Arial"/>
              </a:rPr>
              <a:t>Committee</a:t>
            </a:r>
            <a:r>
              <a:rPr lang="en-GB" sz="2400" spc="-2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lang="en-GB" sz="2400" spc="-3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FF0000"/>
                </a:solidFill>
                <a:latin typeface="Arial"/>
                <a:cs typeface="Arial"/>
              </a:rPr>
              <a:t>Banking</a:t>
            </a:r>
            <a:r>
              <a:rPr lang="en-GB" sz="2400" spc="-2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FF0000"/>
                </a:solidFill>
                <a:latin typeface="Arial"/>
                <a:cs typeface="Arial"/>
              </a:rPr>
              <a:t>Supervision</a:t>
            </a:r>
            <a:r>
              <a:rPr lang="en-GB" sz="2400" spc="-2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lang="en-GB" sz="2400" spc="-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implemented 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lang="en-GB" sz="2400" spc="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FF0000"/>
                </a:solidFill>
                <a:latin typeface="Arial"/>
                <a:cs typeface="Arial"/>
              </a:rPr>
              <a:t>Basel</a:t>
            </a:r>
            <a:r>
              <a:rPr lang="en-GB" sz="2400" spc="2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FF0000"/>
                </a:solidFill>
                <a:latin typeface="Arial"/>
                <a:cs typeface="Arial"/>
              </a:rPr>
              <a:t>Accord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lang="en-GB" sz="24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lang="en-GB" sz="24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deals</a:t>
            </a:r>
            <a:r>
              <a:rPr lang="en-GB" sz="24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lang="en-GB" sz="2400" spc="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lang="en-GB"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second</a:t>
            </a:r>
            <a:r>
              <a:rPr lang="en-GB" sz="24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type</a:t>
            </a:r>
            <a:r>
              <a:rPr lang="en-GB" sz="2400" spc="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lang="en-GB" sz="2400" spc="-25" dirty="0">
                <a:solidFill>
                  <a:srgbClr val="292934"/>
                </a:solidFill>
                <a:latin typeface="Arial"/>
                <a:cs typeface="Arial"/>
              </a:rPr>
              <a:t>of </a:t>
            </a:r>
            <a:r>
              <a:rPr lang="en-GB" sz="2400" dirty="0">
                <a:solidFill>
                  <a:srgbClr val="292934"/>
                </a:solidFill>
                <a:latin typeface="Arial"/>
                <a:cs typeface="Arial"/>
              </a:rPr>
              <a:t>capital requirements,</a:t>
            </a:r>
            <a:r>
              <a:rPr lang="en-GB"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lang="en-GB" sz="2400" spc="-10" dirty="0">
                <a:solidFill>
                  <a:srgbClr val="FF0000"/>
                </a:solidFill>
                <a:latin typeface="Arial"/>
                <a:cs typeface="Arial"/>
              </a:rPr>
              <a:t>risk-</a:t>
            </a:r>
            <a:r>
              <a:rPr lang="en-GB" sz="2400" dirty="0">
                <a:solidFill>
                  <a:srgbClr val="FF0000"/>
                </a:solidFill>
                <a:latin typeface="Arial"/>
                <a:cs typeface="Arial"/>
              </a:rPr>
              <a:t>based</a:t>
            </a:r>
            <a:r>
              <a:rPr lang="en-GB"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Arial"/>
                <a:cs typeface="Arial"/>
              </a:rPr>
              <a:t>capital</a:t>
            </a:r>
            <a:r>
              <a:rPr lang="en-GB"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GB" sz="2400" spc="-10" dirty="0">
                <a:solidFill>
                  <a:srgbClr val="FF0000"/>
                </a:solidFill>
                <a:latin typeface="Arial"/>
                <a:cs typeface="Arial"/>
              </a:rPr>
              <a:t>requirements</a:t>
            </a:r>
            <a:r>
              <a:rPr lang="en-GB" sz="24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lang="en-GB" sz="2400" dirty="0">
              <a:latin typeface="Arial"/>
              <a:cs typeface="Arial"/>
            </a:endParaRPr>
          </a:p>
          <a:p>
            <a:pPr marL="195580" indent="-182880" algn="just"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2057400"/>
            <a:ext cx="11277600" cy="354353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94945" marR="5080" indent="-182880" algn="just">
              <a:lnSpc>
                <a:spcPct val="80000"/>
              </a:lnSpc>
              <a:spcBef>
                <a:spcPts val="620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Basel</a:t>
            </a:r>
            <a:r>
              <a:rPr sz="2200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Accord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2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requires</a:t>
            </a:r>
            <a:r>
              <a:rPr sz="22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2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22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hold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capital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at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least</a:t>
            </a:r>
            <a:r>
              <a:rPr sz="22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8%</a:t>
            </a:r>
            <a:r>
              <a:rPr sz="22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200" spc="3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22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risk-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weighted</a:t>
            </a:r>
            <a:r>
              <a:rPr sz="22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assets,</a:t>
            </a:r>
            <a:r>
              <a:rPr sz="2200" spc="3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2200" spc="3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been</a:t>
            </a:r>
            <a:r>
              <a:rPr sz="22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adopted</a:t>
            </a:r>
            <a:r>
              <a:rPr sz="2200" spc="3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by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more</a:t>
            </a:r>
            <a:r>
              <a:rPr sz="2200" spc="1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than</a:t>
            </a:r>
            <a:r>
              <a:rPr sz="2200" spc="2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100</a:t>
            </a:r>
            <a:r>
              <a:rPr sz="2200" spc="1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countries.</a:t>
            </a:r>
            <a:r>
              <a:rPr sz="2200" spc="1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Assets</a:t>
            </a:r>
            <a:r>
              <a:rPr sz="2200" spc="2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200" spc="1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allocated</a:t>
            </a:r>
            <a:r>
              <a:rPr sz="2200" spc="1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into</a:t>
            </a:r>
            <a:r>
              <a:rPr sz="2200" spc="1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four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categories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2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each</a:t>
            </a:r>
            <a:r>
              <a:rPr sz="22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2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2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different</a:t>
            </a:r>
            <a:r>
              <a:rPr sz="2200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weight</a:t>
            </a:r>
            <a:r>
              <a:rPr sz="2200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2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reflect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degree</a:t>
            </a:r>
            <a:r>
              <a:rPr sz="22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of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credit</a:t>
            </a:r>
            <a:r>
              <a:rPr sz="22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2200" spc="-2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469900" marR="6350" lvl="1" indent="-182880" algn="just">
              <a:lnSpc>
                <a:spcPct val="80000"/>
              </a:lnSpc>
              <a:spcBef>
                <a:spcPts val="470"/>
              </a:spcBef>
              <a:buClr>
                <a:srgbClr val="92A199"/>
              </a:buClr>
              <a:buSzPct val="84210"/>
              <a:buChar char="•"/>
              <a:tabLst>
                <a:tab pos="469900" algn="l"/>
              </a:tabLst>
            </a:pP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Over</a:t>
            </a:r>
            <a:r>
              <a:rPr sz="19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time,</a:t>
            </a:r>
            <a:r>
              <a:rPr sz="19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limitations</a:t>
            </a:r>
            <a:r>
              <a:rPr sz="1900" spc="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900" spc="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900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Basel</a:t>
            </a:r>
            <a:r>
              <a:rPr sz="1900" spc="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Accord</a:t>
            </a:r>
            <a:r>
              <a:rPr sz="1900" spc="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19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become</a:t>
            </a:r>
            <a:r>
              <a:rPr sz="19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apparent,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19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regulatory</a:t>
            </a:r>
            <a:r>
              <a:rPr sz="19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measure</a:t>
            </a:r>
            <a:r>
              <a:rPr sz="19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19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1900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19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19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stipulated</a:t>
            </a:r>
            <a:r>
              <a:rPr sz="19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19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Arial"/>
                <a:cs typeface="Arial"/>
              </a:rPr>
              <a:t>risk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weights,</a:t>
            </a:r>
            <a:r>
              <a:rPr sz="19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can</a:t>
            </a:r>
            <a:r>
              <a:rPr sz="19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differ</a:t>
            </a:r>
            <a:r>
              <a:rPr sz="19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substantially</a:t>
            </a:r>
            <a:r>
              <a:rPr sz="19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19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actual</a:t>
            </a:r>
            <a:r>
              <a:rPr sz="19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1900" spc="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19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Arial"/>
                <a:cs typeface="Arial"/>
              </a:rPr>
              <a:t>faces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.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1900" spc="4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discrepancy</a:t>
            </a:r>
            <a:r>
              <a:rPr sz="19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19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resulted</a:t>
            </a:r>
            <a:r>
              <a:rPr sz="19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1900" spc="4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regulatory</a:t>
            </a:r>
            <a:r>
              <a:rPr sz="1900" spc="40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arbitrage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1900" spc="40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practice</a:t>
            </a:r>
            <a:r>
              <a:rPr sz="1900" spc="4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sz="19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19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keep</a:t>
            </a:r>
            <a:r>
              <a:rPr sz="19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19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19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books</a:t>
            </a:r>
            <a:r>
              <a:rPr sz="19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assets</a:t>
            </a:r>
            <a:r>
              <a:rPr sz="19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19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19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same</a:t>
            </a:r>
            <a:r>
              <a:rPr sz="19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FF0000"/>
                </a:solidFill>
                <a:latin typeface="Arial"/>
                <a:cs typeface="Arial"/>
              </a:rPr>
              <a:t>risk-based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capital</a:t>
            </a:r>
            <a:r>
              <a:rPr sz="1900" spc="6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requirement</a:t>
            </a:r>
            <a:r>
              <a:rPr sz="1900" spc="6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but</a:t>
            </a:r>
            <a:r>
              <a:rPr sz="1900" spc="6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sz="1900" spc="6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relatively</a:t>
            </a:r>
            <a:r>
              <a:rPr sz="1900" spc="6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FF0000"/>
                </a:solidFill>
                <a:latin typeface="Arial"/>
                <a:cs typeface="Arial"/>
              </a:rPr>
              <a:t>risky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19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such</a:t>
            </a:r>
            <a:r>
              <a:rPr sz="19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19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loan</a:t>
            </a:r>
            <a:r>
              <a:rPr sz="19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19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spc="-50" dirty="0">
                <a:solidFill>
                  <a:srgbClr val="292934"/>
                </a:solidFill>
                <a:latin typeface="Arial"/>
                <a:cs typeface="Arial"/>
              </a:rPr>
              <a:t>a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company</a:t>
            </a:r>
            <a:r>
              <a:rPr sz="19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19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very</a:t>
            </a:r>
            <a:r>
              <a:rPr sz="1900" spc="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low</a:t>
            </a:r>
            <a:r>
              <a:rPr sz="19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credit</a:t>
            </a:r>
            <a:r>
              <a:rPr sz="19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rating,</a:t>
            </a:r>
            <a:r>
              <a:rPr sz="19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while</a:t>
            </a:r>
            <a:r>
              <a:rPr sz="19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taking</a:t>
            </a:r>
            <a:r>
              <a:rPr sz="19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off</a:t>
            </a:r>
            <a:r>
              <a:rPr sz="19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19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books</a:t>
            </a:r>
            <a:r>
              <a:rPr sz="19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Arial"/>
                <a:cs typeface="Arial"/>
              </a:rPr>
              <a:t>low-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19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assets,</a:t>
            </a:r>
            <a:r>
              <a:rPr sz="19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such</a:t>
            </a:r>
            <a:r>
              <a:rPr sz="19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19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loan</a:t>
            </a:r>
            <a:r>
              <a:rPr sz="19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19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company</a:t>
            </a:r>
            <a:r>
              <a:rPr sz="19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19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very</a:t>
            </a:r>
            <a:r>
              <a:rPr sz="19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high</a:t>
            </a:r>
            <a:r>
              <a:rPr sz="19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credit</a:t>
            </a:r>
            <a:r>
              <a:rPr sz="19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rating.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Basel</a:t>
            </a:r>
            <a:r>
              <a:rPr sz="1900" spc="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Accord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thus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might</a:t>
            </a:r>
            <a:r>
              <a:rPr sz="1900" spc="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lead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1900" spc="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increased</a:t>
            </a:r>
            <a:r>
              <a:rPr sz="1900" spc="10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1900" spc="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taking,</a:t>
            </a:r>
            <a:r>
              <a:rPr sz="1900" spc="9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1900" spc="-25" dirty="0">
                <a:solidFill>
                  <a:srgbClr val="292934"/>
                </a:solidFill>
                <a:latin typeface="Arial"/>
                <a:cs typeface="Arial"/>
              </a:rPr>
              <a:t>the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opposite</a:t>
            </a:r>
            <a:r>
              <a:rPr sz="19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19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its</a:t>
            </a:r>
            <a:r>
              <a:rPr sz="19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intent.</a:t>
            </a:r>
            <a:endParaRPr sz="1900" dirty="0">
              <a:latin typeface="Arial"/>
              <a:cs typeface="Arial"/>
            </a:endParaRPr>
          </a:p>
          <a:p>
            <a:pPr marL="744220" marR="5080" lvl="2" indent="-182880" algn="just">
              <a:lnSpc>
                <a:spcPct val="80000"/>
              </a:lnSpc>
              <a:spcBef>
                <a:spcPts val="420"/>
              </a:spcBef>
              <a:buClr>
                <a:srgbClr val="92A199"/>
              </a:buClr>
              <a:buSzPct val="88235"/>
              <a:buChar char="•"/>
              <a:tabLst>
                <a:tab pos="744855" algn="l"/>
              </a:tabLst>
            </a:pP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1700" spc="3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address</a:t>
            </a:r>
            <a:r>
              <a:rPr sz="1700" spc="3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these</a:t>
            </a:r>
            <a:r>
              <a:rPr sz="17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limitations,</a:t>
            </a:r>
            <a:r>
              <a:rPr sz="1700" spc="3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7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Basel</a:t>
            </a:r>
            <a:r>
              <a:rPr sz="17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Committee</a:t>
            </a:r>
            <a:r>
              <a:rPr sz="1700" spc="3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1700" spc="3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1700" spc="3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Arial"/>
                <a:cs typeface="Arial"/>
              </a:rPr>
              <a:t>Supervision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came</a:t>
            </a:r>
            <a:r>
              <a:rPr sz="17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up</a:t>
            </a:r>
            <a:r>
              <a:rPr sz="17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17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7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new</a:t>
            </a:r>
            <a:r>
              <a:rPr sz="17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capital</a:t>
            </a:r>
            <a:r>
              <a:rPr sz="17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accord,</a:t>
            </a:r>
            <a:r>
              <a:rPr sz="17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often referred</a:t>
            </a:r>
            <a:r>
              <a:rPr sz="17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17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as 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Basel</a:t>
            </a:r>
            <a:r>
              <a:rPr sz="17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r>
              <a:rPr sz="17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However,</a:t>
            </a:r>
            <a:r>
              <a:rPr sz="17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7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aftermath</a:t>
            </a:r>
            <a:r>
              <a:rPr sz="17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of the</a:t>
            </a:r>
            <a:r>
              <a:rPr sz="17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global</a:t>
            </a:r>
            <a:r>
              <a:rPr sz="17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financial crisis,</a:t>
            </a:r>
            <a:r>
              <a:rPr sz="17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7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committee developed</a:t>
            </a:r>
            <a:r>
              <a:rPr sz="17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sz="17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Arial"/>
                <a:cs typeface="Arial"/>
              </a:rPr>
              <a:t>even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newer accord,</a:t>
            </a:r>
            <a:r>
              <a:rPr sz="17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which the</a:t>
            </a:r>
            <a:r>
              <a:rPr sz="17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sz="17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17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dubbed</a:t>
            </a:r>
            <a:r>
              <a:rPr sz="17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292934"/>
                </a:solidFill>
                <a:latin typeface="Arial"/>
                <a:cs typeface="Arial"/>
              </a:rPr>
              <a:t>“</a:t>
            </a:r>
            <a:r>
              <a:rPr sz="1700" dirty="0">
                <a:solidFill>
                  <a:srgbClr val="FF0000"/>
                </a:solidFill>
                <a:latin typeface="Arial"/>
                <a:cs typeface="Arial"/>
              </a:rPr>
              <a:t>Basel</a:t>
            </a:r>
            <a:r>
              <a:rPr sz="17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1700" spc="-25" dirty="0">
                <a:solidFill>
                  <a:srgbClr val="292934"/>
                </a:solidFill>
                <a:latin typeface="Arial"/>
                <a:cs typeface="Arial"/>
              </a:rPr>
              <a:t>.”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761660"/>
            <a:ext cx="632206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iii.</a:t>
            </a:r>
            <a:r>
              <a:rPr spc="-204" dirty="0"/>
              <a:t> </a:t>
            </a:r>
            <a:r>
              <a:rPr spc="-95" dirty="0"/>
              <a:t>Prompt</a:t>
            </a:r>
            <a:r>
              <a:rPr spc="-170" dirty="0"/>
              <a:t> </a:t>
            </a:r>
            <a:r>
              <a:rPr spc="-105" dirty="0"/>
              <a:t>Corrective</a:t>
            </a:r>
            <a:r>
              <a:rPr spc="-270" dirty="0"/>
              <a:t> </a:t>
            </a:r>
            <a:r>
              <a:rPr spc="-50" dirty="0"/>
              <a:t>Action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85800" y="1752602"/>
            <a:ext cx="11277599" cy="3832459"/>
          </a:xfrm>
          <a:prstGeom prst="rect">
            <a:avLst/>
          </a:prstGeom>
        </p:spPr>
        <p:txBody>
          <a:bodyPr vert="horz" wrap="square" lIns="0" tIns="5397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94945" marR="8890" indent="-182880" algn="just">
              <a:lnSpc>
                <a:spcPts val="2590"/>
              </a:lnSpc>
              <a:spcBef>
                <a:spcPts val="42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If</a:t>
            </a:r>
            <a:r>
              <a:rPr spc="130" dirty="0"/>
              <a:t> </a:t>
            </a:r>
            <a:r>
              <a:rPr dirty="0"/>
              <a:t>the</a:t>
            </a:r>
            <a:r>
              <a:rPr spc="130" dirty="0"/>
              <a:t> </a:t>
            </a:r>
            <a:r>
              <a:rPr dirty="0"/>
              <a:t>amount</a:t>
            </a:r>
            <a:r>
              <a:rPr spc="145" dirty="0"/>
              <a:t> </a:t>
            </a:r>
            <a:r>
              <a:rPr dirty="0"/>
              <a:t>of</a:t>
            </a:r>
            <a:r>
              <a:rPr spc="135" dirty="0"/>
              <a:t> </a:t>
            </a:r>
            <a:r>
              <a:rPr dirty="0"/>
              <a:t>a</a:t>
            </a:r>
            <a:r>
              <a:rPr spc="120" dirty="0"/>
              <a:t> </a:t>
            </a:r>
            <a:r>
              <a:rPr dirty="0"/>
              <a:t>financial</a:t>
            </a:r>
            <a:r>
              <a:rPr spc="140" dirty="0"/>
              <a:t> </a:t>
            </a:r>
            <a:r>
              <a:rPr dirty="0"/>
              <a:t>institution‟s</a:t>
            </a:r>
            <a:r>
              <a:rPr spc="150" dirty="0"/>
              <a:t> </a:t>
            </a:r>
            <a:r>
              <a:rPr dirty="0">
                <a:solidFill>
                  <a:srgbClr val="FF0000"/>
                </a:solidFill>
              </a:rPr>
              <a:t>capital</a:t>
            </a:r>
            <a:r>
              <a:rPr spc="1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falls</a:t>
            </a:r>
            <a:r>
              <a:rPr spc="1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13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low </a:t>
            </a:r>
            <a:r>
              <a:rPr dirty="0"/>
              <a:t>levels,</a:t>
            </a:r>
            <a:r>
              <a:rPr spc="-10" dirty="0"/>
              <a:t> </a:t>
            </a:r>
            <a:r>
              <a:rPr dirty="0"/>
              <a:t>two</a:t>
            </a:r>
            <a:r>
              <a:rPr spc="-15" dirty="0"/>
              <a:t> </a:t>
            </a:r>
            <a:r>
              <a:rPr dirty="0"/>
              <a:t>serious</a:t>
            </a:r>
            <a:r>
              <a:rPr spc="-5" dirty="0"/>
              <a:t> </a:t>
            </a:r>
            <a:r>
              <a:rPr dirty="0"/>
              <a:t>problems</a:t>
            </a:r>
            <a:r>
              <a:rPr spc="5" dirty="0"/>
              <a:t> </a:t>
            </a:r>
            <a:r>
              <a:rPr spc="-10" dirty="0"/>
              <a:t>result.</a:t>
            </a:r>
          </a:p>
          <a:p>
            <a:pPr marL="469900" marR="6985" lvl="1" indent="-182880" algn="just">
              <a:lnSpc>
                <a:spcPts val="216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First,</a:t>
            </a:r>
            <a:r>
              <a:rPr sz="20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bank</a:t>
            </a:r>
            <a:r>
              <a:rPr sz="2000" spc="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00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more</a:t>
            </a:r>
            <a:r>
              <a:rPr sz="2000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likely</a:t>
            </a:r>
            <a:r>
              <a:rPr sz="2000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fail</a:t>
            </a:r>
            <a:r>
              <a:rPr sz="2000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20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smaller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capital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cushion</a:t>
            </a:r>
            <a:r>
              <a:rPr sz="20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if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suffers</a:t>
            </a:r>
            <a:r>
              <a:rPr sz="20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loan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losses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other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asset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write-downs.</a:t>
            </a:r>
            <a:endParaRPr sz="2000" dirty="0">
              <a:latin typeface="Arial"/>
              <a:cs typeface="Arial"/>
            </a:endParaRPr>
          </a:p>
          <a:p>
            <a:pPr marL="469900" marR="5080" lvl="1" indent="-182880" algn="just">
              <a:lnSpc>
                <a:spcPct val="90000"/>
              </a:lnSpc>
              <a:spcBef>
                <a:spcPts val="445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Second,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less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capital,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2000" spc="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less</a:t>
            </a:r>
            <a:r>
              <a:rPr sz="2000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skin</a:t>
            </a:r>
            <a:r>
              <a:rPr sz="2000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000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game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”</a:t>
            </a:r>
            <a:r>
              <a:rPr sz="20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000" spc="2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therefore</a:t>
            </a:r>
            <a:r>
              <a:rPr sz="20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more</a:t>
            </a:r>
            <a:r>
              <a:rPr sz="20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likely</a:t>
            </a:r>
            <a:r>
              <a:rPr sz="2000" spc="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take</a:t>
            </a:r>
            <a:r>
              <a:rPr sz="2000" spc="2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000" spc="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excessive</a:t>
            </a:r>
            <a:r>
              <a:rPr sz="2000" spc="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risks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r>
              <a:rPr sz="20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other</a:t>
            </a:r>
            <a:r>
              <a:rPr sz="2000" spc="-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words,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moral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hazard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problem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becomes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more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severe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,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making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more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likely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institution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will fail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taxpayer</a:t>
            </a:r>
            <a:r>
              <a:rPr sz="20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will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left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holding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bag.</a:t>
            </a:r>
            <a:endParaRPr sz="2000" dirty="0">
              <a:latin typeface="Arial"/>
              <a:cs typeface="Arial"/>
            </a:endParaRPr>
          </a:p>
          <a:p>
            <a:pPr marL="194945" marR="5080" indent="-182880" algn="just">
              <a:lnSpc>
                <a:spcPct val="9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To</a:t>
            </a:r>
            <a:r>
              <a:rPr spc="-10" dirty="0"/>
              <a:t>  </a:t>
            </a:r>
            <a:r>
              <a:rPr dirty="0"/>
              <a:t>prevent</a:t>
            </a:r>
            <a:r>
              <a:rPr spc="-5" dirty="0"/>
              <a:t>  </a:t>
            </a:r>
            <a:r>
              <a:rPr dirty="0"/>
              <a:t>this,</a:t>
            </a:r>
            <a:r>
              <a:rPr spc="-5" dirty="0"/>
              <a:t>  </a:t>
            </a:r>
            <a:r>
              <a:rPr dirty="0"/>
              <a:t>in</a:t>
            </a:r>
            <a:r>
              <a:rPr spc="-5" dirty="0"/>
              <a:t>  </a:t>
            </a:r>
            <a:r>
              <a:rPr dirty="0"/>
              <a:t>US,</a:t>
            </a:r>
            <a:r>
              <a:rPr spc="-10" dirty="0"/>
              <a:t>  </a:t>
            </a:r>
            <a:r>
              <a:rPr dirty="0"/>
              <a:t>the</a:t>
            </a:r>
            <a:r>
              <a:rPr spc="-10" dirty="0"/>
              <a:t>  </a:t>
            </a:r>
            <a:r>
              <a:rPr dirty="0"/>
              <a:t>Federal</a:t>
            </a:r>
            <a:r>
              <a:rPr spc="-5" dirty="0"/>
              <a:t>  </a:t>
            </a:r>
            <a:r>
              <a:rPr dirty="0"/>
              <a:t>Deposit</a:t>
            </a:r>
            <a:r>
              <a:rPr spc="-5" dirty="0"/>
              <a:t>  </a:t>
            </a:r>
            <a:r>
              <a:rPr spc="-10" dirty="0"/>
              <a:t>Insurance </a:t>
            </a:r>
            <a:r>
              <a:rPr dirty="0"/>
              <a:t>Corporation</a:t>
            </a:r>
            <a:r>
              <a:rPr spc="15" dirty="0"/>
              <a:t>  </a:t>
            </a:r>
            <a:r>
              <a:rPr dirty="0"/>
              <a:t>Improvement</a:t>
            </a:r>
            <a:r>
              <a:rPr spc="20" dirty="0"/>
              <a:t>  </a:t>
            </a:r>
            <a:r>
              <a:rPr dirty="0"/>
              <a:t>Act</a:t>
            </a:r>
            <a:r>
              <a:rPr spc="15" dirty="0"/>
              <a:t>  </a:t>
            </a:r>
            <a:r>
              <a:rPr dirty="0"/>
              <a:t>of</a:t>
            </a:r>
            <a:r>
              <a:rPr spc="20" dirty="0"/>
              <a:t>  </a:t>
            </a:r>
            <a:r>
              <a:rPr dirty="0"/>
              <a:t>1991</a:t>
            </a:r>
            <a:r>
              <a:rPr spc="20" dirty="0"/>
              <a:t>  </a:t>
            </a:r>
            <a:r>
              <a:rPr dirty="0"/>
              <a:t>adopted</a:t>
            </a:r>
            <a:r>
              <a:rPr spc="20" dirty="0"/>
              <a:t>  </a:t>
            </a:r>
            <a:r>
              <a:rPr spc="-10" dirty="0"/>
              <a:t>prompt </a:t>
            </a:r>
            <a:r>
              <a:rPr dirty="0"/>
              <a:t>corrective</a:t>
            </a:r>
            <a:r>
              <a:rPr spc="170" dirty="0"/>
              <a:t>  </a:t>
            </a:r>
            <a:r>
              <a:rPr dirty="0"/>
              <a:t>action</a:t>
            </a:r>
            <a:r>
              <a:rPr spc="175" dirty="0"/>
              <a:t>  </a:t>
            </a:r>
            <a:r>
              <a:rPr dirty="0"/>
              <a:t>provisions</a:t>
            </a:r>
            <a:r>
              <a:rPr spc="175" dirty="0"/>
              <a:t>  </a:t>
            </a:r>
            <a:r>
              <a:rPr dirty="0"/>
              <a:t>that</a:t>
            </a:r>
            <a:r>
              <a:rPr spc="170" dirty="0"/>
              <a:t>  </a:t>
            </a:r>
            <a:r>
              <a:rPr dirty="0"/>
              <a:t>require</a:t>
            </a:r>
            <a:r>
              <a:rPr spc="175" dirty="0"/>
              <a:t>  </a:t>
            </a:r>
            <a:r>
              <a:rPr dirty="0"/>
              <a:t>the</a:t>
            </a:r>
            <a:r>
              <a:rPr spc="175" dirty="0"/>
              <a:t>  </a:t>
            </a:r>
            <a:r>
              <a:rPr dirty="0"/>
              <a:t>FDIC</a:t>
            </a:r>
            <a:r>
              <a:rPr spc="170" dirty="0"/>
              <a:t>  </a:t>
            </a:r>
            <a:r>
              <a:rPr spc="-25" dirty="0">
                <a:solidFill>
                  <a:srgbClr val="FF0000"/>
                </a:solidFill>
              </a:rPr>
              <a:t>to </a:t>
            </a:r>
            <a:r>
              <a:rPr dirty="0">
                <a:solidFill>
                  <a:srgbClr val="FF0000"/>
                </a:solidFill>
              </a:rPr>
              <a:t>intervene</a:t>
            </a:r>
            <a:r>
              <a:rPr spc="3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earlier</a:t>
            </a:r>
            <a:r>
              <a:rPr spc="360" dirty="0">
                <a:solidFill>
                  <a:srgbClr val="FF0000"/>
                </a:solidFill>
              </a:rPr>
              <a:t> </a:t>
            </a:r>
            <a:r>
              <a:rPr dirty="0"/>
              <a:t>and</a:t>
            </a:r>
            <a:r>
              <a:rPr spc="370" dirty="0"/>
              <a:t> </a:t>
            </a:r>
            <a:r>
              <a:rPr dirty="0"/>
              <a:t>more</a:t>
            </a:r>
            <a:r>
              <a:rPr spc="350" dirty="0"/>
              <a:t> </a:t>
            </a:r>
            <a:r>
              <a:rPr dirty="0"/>
              <a:t>vigorously</a:t>
            </a:r>
            <a:r>
              <a:rPr spc="355" dirty="0"/>
              <a:t> </a:t>
            </a:r>
            <a:r>
              <a:rPr dirty="0">
                <a:solidFill>
                  <a:srgbClr val="FF0000"/>
                </a:solidFill>
              </a:rPr>
              <a:t>when</a:t>
            </a:r>
            <a:r>
              <a:rPr spc="3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</a:t>
            </a:r>
            <a:r>
              <a:rPr spc="3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bank</a:t>
            </a:r>
            <a:r>
              <a:rPr spc="36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gets </a:t>
            </a:r>
            <a:r>
              <a:rPr dirty="0">
                <a:solidFill>
                  <a:srgbClr val="FF0000"/>
                </a:solidFill>
              </a:rPr>
              <a:t>into</a:t>
            </a:r>
            <a:r>
              <a:rPr spc="-10" dirty="0">
                <a:solidFill>
                  <a:srgbClr val="FF0000"/>
                </a:solidFill>
              </a:rPr>
              <a:t> trouble</a:t>
            </a:r>
            <a:r>
              <a:rPr spc="-10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35" dirty="0"/>
              <a:t>iv.</a:t>
            </a:r>
            <a:r>
              <a:rPr spc="-175" dirty="0"/>
              <a:t> </a:t>
            </a:r>
            <a:r>
              <a:rPr spc="-105" dirty="0"/>
              <a:t>Chartering</a:t>
            </a:r>
            <a:r>
              <a:rPr spc="-190" dirty="0"/>
              <a:t> </a:t>
            </a:r>
            <a:r>
              <a:rPr spc="-80" dirty="0"/>
              <a:t>and</a:t>
            </a:r>
            <a:r>
              <a:rPr spc="-170" dirty="0"/>
              <a:t> </a:t>
            </a:r>
            <a:r>
              <a:rPr spc="-80" dirty="0"/>
              <a:t>Examination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625854"/>
            <a:ext cx="80727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  <a:tab pos="1910080" algn="l"/>
                <a:tab pos="2623820" algn="l"/>
                <a:tab pos="3964940" algn="l"/>
                <a:tab pos="5238750" algn="l"/>
                <a:tab pos="6835140" algn="l"/>
                <a:tab pos="7498080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Overseeing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who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operates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how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4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operated,</a:t>
            </a:r>
            <a:r>
              <a:rPr sz="24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referred</a:t>
            </a:r>
            <a:r>
              <a:rPr sz="2400" spc="2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2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2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400" spc="2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supervision</a:t>
            </a:r>
            <a:r>
              <a:rPr sz="2400" spc="3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2819" y="2357754"/>
            <a:ext cx="3276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1402715" algn="l"/>
                <a:tab pos="1635760" algn="l"/>
              </a:tabLst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prudential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supervision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, reducing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adverse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6364" y="2723515"/>
            <a:ext cx="122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selection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086" y="2357754"/>
            <a:ext cx="24193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7535" marR="5080" indent="-585470">
              <a:spcBef>
                <a:spcPts val="100"/>
              </a:spcBef>
              <a:tabLst>
                <a:tab pos="513715" algn="l"/>
                <a:tab pos="1136015" algn="l"/>
                <a:tab pos="1326515" algn="l"/>
              </a:tabLst>
            </a:pP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important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moral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73009" y="2723515"/>
            <a:ext cx="141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164590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hazard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52484" y="2357754"/>
            <a:ext cx="16802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spcBef>
                <a:spcPts val="100"/>
              </a:spcBef>
              <a:tabLst>
                <a:tab pos="1298575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method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endParaRPr sz="2400">
              <a:latin typeface="Arial"/>
              <a:cs typeface="Arial"/>
            </a:endParaRPr>
          </a:p>
          <a:p>
            <a:pPr marR="5080" algn="r"/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2820" y="3089275"/>
            <a:ext cx="2360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industry.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3515996"/>
            <a:ext cx="23787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  <a:tab pos="1433195" algn="l"/>
              </a:tabLst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36364" y="3515996"/>
            <a:ext cx="18840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459865" algn="l"/>
              </a:tabLst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41261" y="3515996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71614" y="3515996"/>
            <a:ext cx="577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used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70189" y="3515996"/>
            <a:ext cx="294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5681" y="3515996"/>
            <a:ext cx="12458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09015" algn="l"/>
              </a:tabLst>
            </a:pP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crooks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17140" y="3821049"/>
            <a:ext cx="3809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800225" algn="l"/>
                <a:tab pos="3585210" algn="l"/>
              </a:tabLst>
            </a:pP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overambitious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entrepreneurs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06083" y="3821049"/>
            <a:ext cx="872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engage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59422" y="3821049"/>
            <a:ext cx="10941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15925" algn="l"/>
              </a:tabLst>
            </a:pP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highly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33867" y="3821049"/>
            <a:ext cx="1297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speculative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17139" y="4125849"/>
            <a:ext cx="47777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239520" algn="l"/>
                <a:tab pos="1957070" algn="l"/>
                <a:tab pos="3451225" algn="l"/>
                <a:tab pos="4396105" algn="l"/>
              </a:tabLst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activities,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such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undesirable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people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49692" y="4125849"/>
            <a:ext cx="26822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57555" algn="l"/>
                <a:tab pos="1588770" algn="l"/>
                <a:tab pos="1979930" algn="l"/>
                <a:tab pos="2527300" algn="l"/>
              </a:tabLst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often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eager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run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17139" y="4430649"/>
            <a:ext cx="21742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institution.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14898" y="4808601"/>
            <a:ext cx="146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institutions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67753" y="4808601"/>
            <a:ext cx="2961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545465" algn="l"/>
                <a:tab pos="1367155" algn="l"/>
                <a:tab pos="2698115" algn="l"/>
              </a:tabLst>
            </a:pP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one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method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59939" y="4808602"/>
            <a:ext cx="426656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  <a:tab pos="1910080" algn="l"/>
                <a:tab pos="1932939" algn="l"/>
                <a:tab pos="2675255" algn="l"/>
              </a:tabLst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Chartering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financial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preventing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adverse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99176" y="5174438"/>
            <a:ext cx="40316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506220" algn="l"/>
                <a:tab pos="2983230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selection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problem;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through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42819" y="5540450"/>
            <a:ext cx="78917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chartering,</a:t>
            </a:r>
            <a:r>
              <a:rPr sz="24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proposals</a:t>
            </a:r>
            <a:r>
              <a:rPr sz="2400" spc="2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2400" spc="2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sz="2400" spc="2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institutions</a:t>
            </a:r>
            <a:r>
              <a:rPr sz="2400" spc="2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2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screened</a:t>
            </a:r>
            <a:r>
              <a:rPr sz="2400" spc="2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prevent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undesirable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people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24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controlling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them.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824731"/>
            <a:ext cx="11353800" cy="3949158"/>
          </a:xfrm>
          <a:prstGeom prst="rect">
            <a:avLst/>
          </a:prstGeom>
        </p:spPr>
        <p:txBody>
          <a:bodyPr vert="horz" wrap="square" lIns="0" tIns="4889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94945" marR="5715" indent="-182880" algn="just">
              <a:lnSpc>
                <a:spcPct val="90000"/>
              </a:lnSpc>
              <a:spcBef>
                <a:spcPts val="3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Regular</a:t>
            </a:r>
            <a:r>
              <a:rPr spc="530" dirty="0"/>
              <a:t> </a:t>
            </a:r>
            <a:r>
              <a:rPr spc="-10" dirty="0">
                <a:solidFill>
                  <a:srgbClr val="FF0000"/>
                </a:solidFill>
              </a:rPr>
              <a:t>on-</a:t>
            </a:r>
            <a:r>
              <a:rPr dirty="0">
                <a:solidFill>
                  <a:srgbClr val="FF0000"/>
                </a:solidFill>
              </a:rPr>
              <a:t>site</a:t>
            </a:r>
            <a:r>
              <a:rPr spc="5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examinations</a:t>
            </a:r>
            <a:r>
              <a:rPr dirty="0"/>
              <a:t>,</a:t>
            </a:r>
            <a:r>
              <a:rPr spc="520" dirty="0"/>
              <a:t> </a:t>
            </a:r>
            <a:r>
              <a:rPr dirty="0"/>
              <a:t>which</a:t>
            </a:r>
            <a:r>
              <a:rPr spc="525" dirty="0"/>
              <a:t> </a:t>
            </a:r>
            <a:r>
              <a:rPr dirty="0"/>
              <a:t>allow</a:t>
            </a:r>
            <a:r>
              <a:rPr spc="525" dirty="0"/>
              <a:t> </a:t>
            </a:r>
            <a:r>
              <a:rPr dirty="0"/>
              <a:t>regulators</a:t>
            </a:r>
            <a:r>
              <a:rPr spc="530" dirty="0"/>
              <a:t> </a:t>
            </a:r>
            <a:r>
              <a:rPr spc="-25" dirty="0"/>
              <a:t>to </a:t>
            </a:r>
            <a:r>
              <a:rPr dirty="0"/>
              <a:t>monitor</a:t>
            </a:r>
            <a:r>
              <a:rPr spc="480" dirty="0"/>
              <a:t> </a:t>
            </a:r>
            <a:r>
              <a:rPr dirty="0"/>
              <a:t>whether</a:t>
            </a:r>
            <a:r>
              <a:rPr spc="484" dirty="0"/>
              <a:t> </a:t>
            </a:r>
            <a:r>
              <a:rPr dirty="0"/>
              <a:t>the</a:t>
            </a:r>
            <a:r>
              <a:rPr spc="475" dirty="0"/>
              <a:t> </a:t>
            </a:r>
            <a:r>
              <a:rPr dirty="0"/>
              <a:t>institution</a:t>
            </a:r>
            <a:r>
              <a:rPr spc="480" dirty="0"/>
              <a:t> </a:t>
            </a:r>
            <a:r>
              <a:rPr dirty="0"/>
              <a:t>is</a:t>
            </a:r>
            <a:r>
              <a:rPr spc="480" dirty="0"/>
              <a:t> </a:t>
            </a:r>
            <a:r>
              <a:rPr dirty="0"/>
              <a:t>complying</a:t>
            </a:r>
            <a:r>
              <a:rPr spc="475" dirty="0"/>
              <a:t> </a:t>
            </a:r>
            <a:r>
              <a:rPr dirty="0"/>
              <a:t>with</a:t>
            </a:r>
            <a:r>
              <a:rPr spc="490" dirty="0"/>
              <a:t> </a:t>
            </a:r>
            <a:r>
              <a:rPr spc="-10" dirty="0">
                <a:solidFill>
                  <a:srgbClr val="FF0000"/>
                </a:solidFill>
              </a:rPr>
              <a:t>capital </a:t>
            </a:r>
            <a:r>
              <a:rPr dirty="0">
                <a:solidFill>
                  <a:srgbClr val="FF0000"/>
                </a:solidFill>
              </a:rPr>
              <a:t>requirements</a:t>
            </a:r>
            <a:r>
              <a:rPr spc="30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29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restrictions</a:t>
            </a:r>
            <a:r>
              <a:rPr spc="29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on</a:t>
            </a:r>
            <a:r>
              <a:rPr spc="30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asset</a:t>
            </a:r>
            <a:r>
              <a:rPr spc="29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holdings</a:t>
            </a:r>
            <a:r>
              <a:rPr dirty="0"/>
              <a:t>,</a:t>
            </a:r>
            <a:r>
              <a:rPr spc="300" dirty="0"/>
              <a:t> </a:t>
            </a:r>
            <a:r>
              <a:rPr spc="-10" dirty="0"/>
              <a:t>function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>
                <a:solidFill>
                  <a:srgbClr val="FF0000"/>
                </a:solidFill>
              </a:rPr>
              <a:t>limit moral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hazard</a:t>
            </a:r>
            <a:r>
              <a:rPr spc="-10" dirty="0"/>
              <a:t>.</a:t>
            </a:r>
          </a:p>
          <a:p>
            <a:pPr marL="469900" marR="5080" lvl="1" indent="-182880" algn="just">
              <a:lnSpc>
                <a:spcPts val="2160"/>
              </a:lnSpc>
              <a:spcBef>
                <a:spcPts val="52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000" spc="48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examiners</a:t>
            </a:r>
            <a:r>
              <a:rPr sz="2000" spc="4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give</a:t>
            </a:r>
            <a:r>
              <a:rPr sz="2000" spc="4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20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CAMELS</a:t>
            </a:r>
            <a:r>
              <a:rPr sz="2000" spc="4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rating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r>
              <a:rPr sz="2000" spc="4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acronym</a:t>
            </a:r>
            <a:r>
              <a:rPr sz="20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is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based</a:t>
            </a:r>
            <a:r>
              <a:rPr sz="20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0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six</a:t>
            </a:r>
            <a:r>
              <a:rPr sz="20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areas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assessed:</a:t>
            </a:r>
            <a:r>
              <a:rPr sz="2000" spc="1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capital</a:t>
            </a:r>
            <a:r>
              <a:rPr sz="2000" spc="1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adequacy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000" spc="1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asset</a:t>
            </a:r>
            <a:r>
              <a:rPr sz="2000" spc="1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quality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,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management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000" spc="-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earnings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000" spc="-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liquidity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sensitivity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market</a:t>
            </a:r>
            <a:r>
              <a:rPr sz="20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risk.</a:t>
            </a:r>
            <a:endParaRPr sz="2000" dirty="0">
              <a:latin typeface="Arial"/>
              <a:cs typeface="Arial"/>
            </a:endParaRPr>
          </a:p>
          <a:p>
            <a:pPr marL="194945" marR="6350" indent="-182880" algn="just">
              <a:lnSpc>
                <a:spcPct val="90000"/>
              </a:lnSpc>
              <a:spcBef>
                <a:spcPts val="54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With</a:t>
            </a:r>
            <a:r>
              <a:rPr spc="229" dirty="0"/>
              <a:t> </a:t>
            </a:r>
            <a:r>
              <a:rPr dirty="0"/>
              <a:t>this</a:t>
            </a:r>
            <a:r>
              <a:rPr spc="229" dirty="0"/>
              <a:t> </a:t>
            </a:r>
            <a:r>
              <a:rPr dirty="0"/>
              <a:t>information</a:t>
            </a:r>
            <a:r>
              <a:rPr spc="240" dirty="0"/>
              <a:t> </a:t>
            </a:r>
            <a:r>
              <a:rPr dirty="0"/>
              <a:t>about</a:t>
            </a:r>
            <a:r>
              <a:rPr spc="240" dirty="0"/>
              <a:t> </a:t>
            </a:r>
            <a:r>
              <a:rPr dirty="0"/>
              <a:t>a</a:t>
            </a:r>
            <a:r>
              <a:rPr spc="229" dirty="0"/>
              <a:t> </a:t>
            </a:r>
            <a:r>
              <a:rPr dirty="0"/>
              <a:t>bank‟s</a:t>
            </a:r>
            <a:r>
              <a:rPr spc="240" dirty="0"/>
              <a:t> </a:t>
            </a:r>
            <a:r>
              <a:rPr dirty="0"/>
              <a:t>activities,</a:t>
            </a:r>
            <a:r>
              <a:rPr spc="240" dirty="0"/>
              <a:t> </a:t>
            </a:r>
            <a:r>
              <a:rPr spc="-10" dirty="0">
                <a:solidFill>
                  <a:srgbClr val="FF0000"/>
                </a:solidFill>
              </a:rPr>
              <a:t>regulators </a:t>
            </a:r>
            <a:r>
              <a:rPr dirty="0">
                <a:solidFill>
                  <a:srgbClr val="FF0000"/>
                </a:solidFill>
              </a:rPr>
              <a:t>can</a:t>
            </a:r>
            <a:r>
              <a:rPr spc="2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enforce</a:t>
            </a:r>
            <a:r>
              <a:rPr spc="2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regulations</a:t>
            </a:r>
            <a:r>
              <a:rPr spc="260" dirty="0">
                <a:solidFill>
                  <a:srgbClr val="FF0000"/>
                </a:solidFill>
              </a:rPr>
              <a:t> </a:t>
            </a:r>
            <a:r>
              <a:rPr dirty="0"/>
              <a:t>by</a:t>
            </a:r>
            <a:r>
              <a:rPr spc="250" dirty="0"/>
              <a:t> </a:t>
            </a:r>
            <a:r>
              <a:rPr dirty="0"/>
              <a:t>taking</a:t>
            </a:r>
            <a:r>
              <a:rPr spc="260" dirty="0"/>
              <a:t> </a:t>
            </a:r>
            <a:r>
              <a:rPr dirty="0"/>
              <a:t>formal</a:t>
            </a:r>
            <a:r>
              <a:rPr spc="250" dirty="0"/>
              <a:t> </a:t>
            </a:r>
            <a:r>
              <a:rPr dirty="0"/>
              <a:t>actions</a:t>
            </a:r>
            <a:r>
              <a:rPr spc="260" dirty="0"/>
              <a:t> </a:t>
            </a:r>
            <a:r>
              <a:rPr dirty="0"/>
              <a:t>such</a:t>
            </a:r>
            <a:r>
              <a:rPr spc="270" dirty="0"/>
              <a:t> </a:t>
            </a:r>
            <a:r>
              <a:rPr spc="-25" dirty="0"/>
              <a:t>as </a:t>
            </a:r>
            <a:r>
              <a:rPr dirty="0">
                <a:solidFill>
                  <a:srgbClr val="FF0000"/>
                </a:solidFill>
              </a:rPr>
              <a:t>issuing</a:t>
            </a:r>
            <a:r>
              <a:rPr spc="204" dirty="0">
                <a:solidFill>
                  <a:srgbClr val="FF0000"/>
                </a:solidFill>
              </a:rPr>
              <a:t>  </a:t>
            </a:r>
            <a:r>
              <a:rPr dirty="0">
                <a:solidFill>
                  <a:srgbClr val="FF0000"/>
                </a:solidFill>
              </a:rPr>
              <a:t>cease</a:t>
            </a:r>
            <a:r>
              <a:rPr spc="204" dirty="0">
                <a:solidFill>
                  <a:srgbClr val="FF0000"/>
                </a:solidFill>
              </a:rPr>
              <a:t> 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204" dirty="0">
                <a:solidFill>
                  <a:srgbClr val="FF0000"/>
                </a:solidFill>
              </a:rPr>
              <a:t>  </a:t>
            </a:r>
            <a:r>
              <a:rPr dirty="0">
                <a:solidFill>
                  <a:srgbClr val="FF0000"/>
                </a:solidFill>
              </a:rPr>
              <a:t>desist</a:t>
            </a:r>
            <a:r>
              <a:rPr spc="204" dirty="0">
                <a:solidFill>
                  <a:srgbClr val="FF0000"/>
                </a:solidFill>
              </a:rPr>
              <a:t>  </a:t>
            </a:r>
            <a:r>
              <a:rPr dirty="0"/>
              <a:t>orders</a:t>
            </a:r>
            <a:r>
              <a:rPr spc="204" dirty="0"/>
              <a:t>  </a:t>
            </a:r>
            <a:r>
              <a:rPr dirty="0"/>
              <a:t>to</a:t>
            </a:r>
            <a:r>
              <a:rPr spc="195" dirty="0"/>
              <a:t>  </a:t>
            </a:r>
            <a:r>
              <a:rPr dirty="0"/>
              <a:t>alter</a:t>
            </a:r>
            <a:r>
              <a:rPr spc="200" dirty="0"/>
              <a:t>  </a:t>
            </a:r>
            <a:r>
              <a:rPr dirty="0"/>
              <a:t>the</a:t>
            </a:r>
            <a:r>
              <a:rPr spc="204" dirty="0"/>
              <a:t>  </a:t>
            </a:r>
            <a:r>
              <a:rPr spc="-40" dirty="0"/>
              <a:t>bank‟s </a:t>
            </a:r>
            <a:r>
              <a:rPr dirty="0"/>
              <a:t>behavior,</a:t>
            </a:r>
            <a:r>
              <a:rPr spc="265" dirty="0"/>
              <a:t> </a:t>
            </a:r>
            <a:r>
              <a:rPr dirty="0"/>
              <a:t>or</a:t>
            </a:r>
            <a:r>
              <a:rPr spc="260" dirty="0"/>
              <a:t> </a:t>
            </a:r>
            <a:r>
              <a:rPr dirty="0"/>
              <a:t>even</a:t>
            </a:r>
            <a:r>
              <a:rPr spc="254" dirty="0"/>
              <a:t> </a:t>
            </a:r>
            <a:r>
              <a:rPr dirty="0">
                <a:solidFill>
                  <a:srgbClr val="FF0000"/>
                </a:solidFill>
              </a:rPr>
              <a:t>closing</a:t>
            </a:r>
            <a:r>
              <a:rPr spc="2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</a:t>
            </a:r>
            <a:r>
              <a:rPr spc="2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bank</a:t>
            </a:r>
            <a:r>
              <a:rPr spc="270" dirty="0">
                <a:solidFill>
                  <a:srgbClr val="FF0000"/>
                </a:solidFill>
              </a:rPr>
              <a:t> </a:t>
            </a:r>
            <a:r>
              <a:rPr dirty="0"/>
              <a:t>if</a:t>
            </a:r>
            <a:r>
              <a:rPr spc="265" dirty="0"/>
              <a:t> </a:t>
            </a:r>
            <a:r>
              <a:rPr dirty="0"/>
              <a:t>its</a:t>
            </a:r>
            <a:r>
              <a:rPr spc="254" dirty="0"/>
              <a:t> </a:t>
            </a:r>
            <a:r>
              <a:rPr dirty="0"/>
              <a:t>CAMELS</a:t>
            </a:r>
            <a:r>
              <a:rPr spc="260" dirty="0"/>
              <a:t> </a:t>
            </a:r>
            <a:r>
              <a:rPr dirty="0"/>
              <a:t>rating</a:t>
            </a:r>
            <a:r>
              <a:rPr spc="265" dirty="0"/>
              <a:t> </a:t>
            </a:r>
            <a:r>
              <a:rPr spc="-25" dirty="0"/>
              <a:t>is </a:t>
            </a:r>
            <a:r>
              <a:rPr dirty="0"/>
              <a:t>sufficiently</a:t>
            </a:r>
            <a:r>
              <a:rPr spc="-65" dirty="0"/>
              <a:t> </a:t>
            </a:r>
            <a:r>
              <a:rPr spc="-20" dirty="0"/>
              <a:t>low.</a:t>
            </a:r>
          </a:p>
          <a:p>
            <a:pPr marL="194945" marR="9525" indent="-182880" algn="just">
              <a:lnSpc>
                <a:spcPts val="2590"/>
              </a:lnSpc>
              <a:spcBef>
                <a:spcPts val="61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Bank</a:t>
            </a:r>
            <a:r>
              <a:rPr spc="65" dirty="0"/>
              <a:t>  </a:t>
            </a:r>
            <a:r>
              <a:rPr dirty="0"/>
              <a:t>examinations</a:t>
            </a:r>
            <a:r>
              <a:rPr spc="80" dirty="0"/>
              <a:t>  </a:t>
            </a:r>
            <a:r>
              <a:rPr dirty="0"/>
              <a:t>are</a:t>
            </a:r>
            <a:r>
              <a:rPr spc="70" dirty="0"/>
              <a:t>  </a:t>
            </a:r>
            <a:r>
              <a:rPr dirty="0"/>
              <a:t>conducted</a:t>
            </a:r>
            <a:r>
              <a:rPr spc="75" dirty="0"/>
              <a:t>  </a:t>
            </a:r>
            <a:r>
              <a:rPr dirty="0"/>
              <a:t>by</a:t>
            </a:r>
            <a:r>
              <a:rPr spc="70" dirty="0"/>
              <a:t>  </a:t>
            </a:r>
            <a:r>
              <a:rPr dirty="0"/>
              <a:t>bank</a:t>
            </a:r>
            <a:r>
              <a:rPr spc="65" dirty="0"/>
              <a:t>  </a:t>
            </a:r>
            <a:r>
              <a:rPr spc="-10" dirty="0"/>
              <a:t>examiners </a:t>
            </a:r>
            <a:r>
              <a:rPr dirty="0"/>
              <a:t>scheduled and</a:t>
            </a:r>
            <a:r>
              <a:rPr spc="-15" dirty="0"/>
              <a:t> </a:t>
            </a:r>
            <a:r>
              <a:rPr spc="-10" dirty="0"/>
              <a:t>unscheduled.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1066800"/>
            <a:ext cx="11429999" cy="4303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700">
              <a:spcBef>
                <a:spcPts val="100"/>
              </a:spcBef>
              <a:buAutoNum type="romanLcPeriod" startAt="5"/>
              <a:tabLst>
                <a:tab pos="279400" algn="l"/>
              </a:tabLst>
            </a:pPr>
            <a:r>
              <a:rPr sz="2400" b="1" spc="-110" dirty="0">
                <a:solidFill>
                  <a:srgbClr val="D2523B"/>
                </a:solidFill>
                <a:latin typeface="Arial"/>
                <a:cs typeface="Arial"/>
              </a:rPr>
              <a:t>Assessment</a:t>
            </a:r>
            <a:r>
              <a:rPr sz="2400" b="1" spc="-17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D2523B"/>
                </a:solidFill>
                <a:latin typeface="Arial"/>
                <a:cs typeface="Arial"/>
              </a:rPr>
              <a:t>of</a:t>
            </a:r>
            <a:r>
              <a:rPr sz="2400" b="1" spc="-17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95" dirty="0">
                <a:solidFill>
                  <a:srgbClr val="D2523B"/>
                </a:solidFill>
                <a:latin typeface="Arial"/>
                <a:cs typeface="Arial"/>
              </a:rPr>
              <a:t>Risk</a:t>
            </a:r>
            <a:r>
              <a:rPr sz="2400" b="1" spc="-16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D2523B"/>
                </a:solidFill>
                <a:latin typeface="Arial"/>
                <a:cs typeface="Arial"/>
              </a:rPr>
              <a:t>Management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25"/>
              </a:spcBef>
              <a:buClr>
                <a:srgbClr val="D2523B"/>
              </a:buClr>
              <a:buFont typeface="Arial"/>
              <a:buAutoNum type="romanLcPeriod" startAt="5"/>
            </a:pPr>
            <a:endParaRPr sz="2950" dirty="0">
              <a:latin typeface="Arial"/>
              <a:cs typeface="Arial"/>
            </a:endParaRPr>
          </a:p>
          <a:p>
            <a:pPr marL="194945" marR="5080" lvl="1" indent="-182880" algn="just">
              <a:lnSpc>
                <a:spcPct val="9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Although</a:t>
            </a:r>
            <a:r>
              <a:rPr sz="2400" spc="2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2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traditional</a:t>
            </a:r>
            <a:r>
              <a:rPr sz="2400" spc="2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on-site</a:t>
            </a:r>
            <a:r>
              <a:rPr sz="2400" spc="2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examinations</a:t>
            </a:r>
            <a:r>
              <a:rPr sz="2400" spc="2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focus</a:t>
            </a:r>
            <a:r>
              <a:rPr sz="2400" spc="2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spc="2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still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important</a:t>
            </a:r>
            <a:r>
              <a:rPr sz="2400" spc="5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5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reducing</a:t>
            </a:r>
            <a:r>
              <a:rPr sz="2400" spc="5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excessive</a:t>
            </a:r>
            <a:r>
              <a:rPr sz="2400" spc="5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2400" spc="5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taking</a:t>
            </a:r>
            <a:r>
              <a:rPr sz="2400" spc="5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400" spc="5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institutions,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400" spc="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no</a:t>
            </a:r>
            <a:r>
              <a:rPr sz="2400" spc="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longer</a:t>
            </a:r>
            <a:r>
              <a:rPr sz="2400" spc="5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thought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2400" spc="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adequate</a:t>
            </a:r>
            <a:r>
              <a:rPr sz="2400" spc="5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today‟s</a:t>
            </a:r>
            <a:r>
              <a:rPr sz="2400" spc="1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world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1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sz="2400" spc="1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400" spc="1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innovation</a:t>
            </a:r>
            <a:r>
              <a:rPr sz="2400" spc="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has</a:t>
            </a:r>
            <a:r>
              <a:rPr sz="2400" spc="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produced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r>
              <a:rPr sz="2400" spc="17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markets</a:t>
            </a:r>
            <a:r>
              <a:rPr sz="2400" spc="17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18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instruments</a:t>
            </a:r>
            <a:r>
              <a:rPr sz="2400" spc="18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1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make</a:t>
            </a:r>
            <a:r>
              <a:rPr sz="2400" spc="1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400" spc="1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easy</a:t>
            </a:r>
            <a:r>
              <a:rPr sz="2400" spc="1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for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5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5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4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2400" spc="5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employees</a:t>
            </a:r>
            <a:r>
              <a:rPr sz="2400" spc="4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4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make</a:t>
            </a:r>
            <a:r>
              <a:rPr sz="2400" spc="5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huge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bets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easily</a:t>
            </a:r>
            <a:r>
              <a:rPr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quickly.</a:t>
            </a:r>
            <a:endParaRPr sz="2400" dirty="0">
              <a:latin typeface="Arial"/>
              <a:cs typeface="Arial"/>
            </a:endParaRPr>
          </a:p>
          <a:p>
            <a:pPr marL="194945" marR="5080" lvl="1" indent="-182880" algn="just">
              <a:lnSpc>
                <a:spcPts val="2590"/>
              </a:lnSpc>
              <a:spcBef>
                <a:spcPts val="62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change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environment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resulted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50" dirty="0">
                <a:solidFill>
                  <a:srgbClr val="292934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major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shift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thinking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about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prudential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supervisory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process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throughout the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world.</a:t>
            </a:r>
            <a:endParaRPr sz="2400" dirty="0">
              <a:latin typeface="Arial"/>
              <a:cs typeface="Arial"/>
            </a:endParaRPr>
          </a:p>
          <a:p>
            <a:pPr marL="194945" marR="5080" lvl="1" indent="-182880" algn="just">
              <a:lnSpc>
                <a:spcPct val="90000"/>
              </a:lnSpc>
              <a:spcBef>
                <a:spcPts val="54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1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examiners,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example,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now</a:t>
            </a:r>
            <a:r>
              <a:rPr sz="2400" spc="1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place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far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greater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emphasis</a:t>
            </a:r>
            <a:r>
              <a:rPr sz="2400" spc="2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400" spc="2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evaluating</a:t>
            </a:r>
            <a:r>
              <a:rPr sz="2400" spc="2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2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soundness</a:t>
            </a:r>
            <a:r>
              <a:rPr sz="2400" spc="2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24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spc="2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bank‟s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management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processes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regard to</a:t>
            </a:r>
            <a:r>
              <a:rPr sz="24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controlling</a:t>
            </a:r>
            <a:r>
              <a:rPr sz="2400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625853"/>
            <a:ext cx="11506199" cy="3362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6350" indent="-182880" algn="just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Now,</a:t>
            </a:r>
            <a:r>
              <a:rPr sz="2400" spc="4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bank</a:t>
            </a:r>
            <a:r>
              <a:rPr sz="2400" spc="45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examiners</a:t>
            </a:r>
            <a:r>
              <a:rPr sz="2400" spc="45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give</a:t>
            </a:r>
            <a:r>
              <a:rPr sz="2400" spc="43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4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separate</a:t>
            </a:r>
            <a:r>
              <a:rPr sz="2400" spc="4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2400" spc="4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management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rating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24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1</a:t>
            </a:r>
            <a:r>
              <a:rPr sz="24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5,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feeds</a:t>
            </a:r>
            <a:r>
              <a:rPr sz="2400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into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overall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management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rating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part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CAMELS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system.</a:t>
            </a:r>
            <a:endParaRPr sz="2400" dirty="0">
              <a:latin typeface="Arial"/>
              <a:cs typeface="Arial"/>
            </a:endParaRPr>
          </a:p>
          <a:p>
            <a:pPr marL="194945" marR="5715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Four</a:t>
            </a:r>
            <a:r>
              <a:rPr sz="24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elements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sound</a:t>
            </a:r>
            <a:r>
              <a:rPr sz="2400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2400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management</a:t>
            </a:r>
            <a:r>
              <a:rPr sz="2400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assessed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arrive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at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management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rating:</a:t>
            </a:r>
            <a:endParaRPr sz="2400" dirty="0">
              <a:latin typeface="Arial"/>
              <a:cs typeface="Arial"/>
            </a:endParaRPr>
          </a:p>
          <a:p>
            <a:pPr marL="744220" marR="5715" lvl="1" indent="-457834">
              <a:spcBef>
                <a:spcPts val="484"/>
              </a:spcBef>
              <a:buClr>
                <a:srgbClr val="92A199"/>
              </a:buClr>
              <a:buSzPct val="85000"/>
              <a:buAutoNum type="arabicPeriod"/>
              <a:tabLst>
                <a:tab pos="744220" algn="l"/>
                <a:tab pos="744855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quality</a:t>
            </a:r>
            <a:r>
              <a:rPr sz="20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3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oversight</a:t>
            </a:r>
            <a:r>
              <a:rPr sz="20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provided</a:t>
            </a:r>
            <a:r>
              <a:rPr sz="2000"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0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3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board</a:t>
            </a:r>
            <a:r>
              <a:rPr sz="2000" spc="3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directors</a:t>
            </a:r>
            <a:r>
              <a:rPr sz="2000" spc="3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and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senior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management;</a:t>
            </a:r>
            <a:endParaRPr sz="2000" dirty="0">
              <a:latin typeface="Arial"/>
              <a:cs typeface="Arial"/>
            </a:endParaRPr>
          </a:p>
          <a:p>
            <a:pPr marL="744220" marR="5080" lvl="1" indent="-457834">
              <a:spcBef>
                <a:spcPts val="480"/>
              </a:spcBef>
              <a:buClr>
                <a:srgbClr val="92A199"/>
              </a:buClr>
              <a:buSzPct val="85000"/>
              <a:buAutoNum type="arabicPeriod"/>
              <a:tabLst>
                <a:tab pos="744220" algn="l"/>
                <a:tab pos="744855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adequacy</a:t>
            </a:r>
            <a:r>
              <a:rPr sz="20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policies</a:t>
            </a:r>
            <a:r>
              <a:rPr sz="2000" spc="2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limits</a:t>
            </a:r>
            <a:r>
              <a:rPr sz="20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activities</a:t>
            </a:r>
            <a:r>
              <a:rPr sz="2000" spc="22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present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significant</a:t>
            </a:r>
            <a:r>
              <a:rPr sz="2000" spc="-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risks;</a:t>
            </a:r>
            <a:endParaRPr sz="2000" dirty="0">
              <a:latin typeface="Arial"/>
              <a:cs typeface="Arial"/>
            </a:endParaRPr>
          </a:p>
          <a:p>
            <a:pPr marL="744220" lvl="1" indent="-458470">
              <a:spcBef>
                <a:spcPts val="480"/>
              </a:spcBef>
              <a:buClr>
                <a:srgbClr val="92A199"/>
              </a:buClr>
              <a:buSzPct val="85000"/>
              <a:buAutoNum type="arabicPeriod"/>
              <a:tabLst>
                <a:tab pos="744220" algn="l"/>
                <a:tab pos="744855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quality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measurement</a:t>
            </a:r>
            <a:r>
              <a:rPr sz="20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monitoring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systems;</a:t>
            </a:r>
            <a:r>
              <a:rPr sz="20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endParaRPr sz="2000" dirty="0">
              <a:latin typeface="Arial"/>
              <a:cs typeface="Arial"/>
            </a:endParaRPr>
          </a:p>
          <a:p>
            <a:pPr marL="744220" lvl="1" indent="-458470">
              <a:spcBef>
                <a:spcPts val="480"/>
              </a:spcBef>
              <a:buClr>
                <a:srgbClr val="92A199"/>
              </a:buClr>
              <a:buSzPct val="85000"/>
              <a:buAutoNum type="arabicPeriod"/>
              <a:tabLst>
                <a:tab pos="744220" algn="l"/>
                <a:tab pos="744855" algn="l"/>
                <a:tab pos="1440815" algn="l"/>
                <a:tab pos="2799080" algn="l"/>
                <a:tab pos="3268345" algn="l"/>
                <a:tab pos="4356100" algn="l"/>
                <a:tab pos="5502910" algn="l"/>
                <a:tab pos="5970270" algn="l"/>
                <a:tab pos="7074534" algn="l"/>
                <a:tab pos="7909559" algn="l"/>
              </a:tabLst>
            </a:pP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adequacy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internal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controls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prevent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fraud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endParaRPr sz="2000" dirty="0">
              <a:latin typeface="Arial"/>
              <a:cs typeface="Arial"/>
            </a:endParaRPr>
          </a:p>
          <a:p>
            <a:pPr marL="744220"/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unauthorized</a:t>
            </a:r>
            <a:r>
              <a:rPr sz="2000" spc="-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activities</a:t>
            </a:r>
            <a:r>
              <a:rPr sz="20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part</a:t>
            </a:r>
            <a:r>
              <a:rPr sz="20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employees.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04800" y="1905000"/>
            <a:ext cx="11658600" cy="2590453"/>
          </a:xfrm>
          <a:prstGeom prst="rect">
            <a:avLst/>
          </a:prstGeom>
        </p:spPr>
        <p:txBody>
          <a:bodyPr vert="horz" wrap="square" lIns="0" tIns="127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94945" marR="5080" indent="-182880" algn="just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Guidelines</a:t>
            </a:r>
            <a:r>
              <a:rPr spc="200" dirty="0"/>
              <a:t> </a:t>
            </a:r>
            <a:r>
              <a:rPr dirty="0"/>
              <a:t>which</a:t>
            </a:r>
            <a:r>
              <a:rPr spc="195" dirty="0"/>
              <a:t> </a:t>
            </a:r>
            <a:r>
              <a:rPr dirty="0"/>
              <a:t>require</a:t>
            </a:r>
            <a:r>
              <a:rPr spc="200" dirty="0"/>
              <a:t> </a:t>
            </a:r>
            <a:r>
              <a:rPr dirty="0"/>
              <a:t>the</a:t>
            </a:r>
            <a:r>
              <a:rPr spc="195" dirty="0"/>
              <a:t> </a:t>
            </a:r>
            <a:r>
              <a:rPr dirty="0"/>
              <a:t>bank‟s</a:t>
            </a:r>
            <a:r>
              <a:rPr spc="200" dirty="0"/>
              <a:t> </a:t>
            </a:r>
            <a:r>
              <a:rPr dirty="0"/>
              <a:t>board</a:t>
            </a:r>
            <a:r>
              <a:rPr spc="195" dirty="0"/>
              <a:t> </a:t>
            </a:r>
            <a:r>
              <a:rPr dirty="0"/>
              <a:t>of</a:t>
            </a:r>
            <a:r>
              <a:rPr spc="195" dirty="0"/>
              <a:t> </a:t>
            </a:r>
            <a:r>
              <a:rPr dirty="0"/>
              <a:t>directors</a:t>
            </a:r>
            <a:r>
              <a:rPr spc="190" dirty="0"/>
              <a:t> </a:t>
            </a:r>
            <a:r>
              <a:rPr spc="-25" dirty="0"/>
              <a:t>to </a:t>
            </a:r>
            <a:r>
              <a:rPr dirty="0"/>
              <a:t>establish</a:t>
            </a:r>
            <a:r>
              <a:rPr spc="535" dirty="0"/>
              <a:t> </a:t>
            </a:r>
            <a:r>
              <a:rPr spc="-10" dirty="0">
                <a:solidFill>
                  <a:srgbClr val="FF0000"/>
                </a:solidFill>
              </a:rPr>
              <a:t>interest-</a:t>
            </a:r>
            <a:r>
              <a:rPr dirty="0">
                <a:solidFill>
                  <a:srgbClr val="FF0000"/>
                </a:solidFill>
              </a:rPr>
              <a:t>rate</a:t>
            </a:r>
            <a:r>
              <a:rPr spc="5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risk</a:t>
            </a:r>
            <a:r>
              <a:rPr spc="5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limits</a:t>
            </a:r>
            <a:r>
              <a:rPr dirty="0"/>
              <a:t>,</a:t>
            </a:r>
            <a:r>
              <a:rPr spc="535" dirty="0"/>
              <a:t> </a:t>
            </a:r>
            <a:r>
              <a:rPr dirty="0"/>
              <a:t>appoint</a:t>
            </a:r>
            <a:r>
              <a:rPr spc="545" dirty="0"/>
              <a:t> </a:t>
            </a:r>
            <a:r>
              <a:rPr dirty="0"/>
              <a:t>officials</a:t>
            </a:r>
            <a:r>
              <a:rPr spc="535" dirty="0"/>
              <a:t> </a:t>
            </a:r>
            <a:r>
              <a:rPr dirty="0"/>
              <a:t>of</a:t>
            </a:r>
            <a:r>
              <a:rPr spc="540" dirty="0"/>
              <a:t> </a:t>
            </a:r>
            <a:r>
              <a:rPr spc="-25" dirty="0"/>
              <a:t>the </a:t>
            </a:r>
            <a:r>
              <a:rPr dirty="0"/>
              <a:t>bank</a:t>
            </a:r>
            <a:r>
              <a:rPr spc="-25" dirty="0"/>
              <a:t>  </a:t>
            </a:r>
            <a:r>
              <a:rPr dirty="0"/>
              <a:t>to</a:t>
            </a:r>
            <a:r>
              <a:rPr spc="-35" dirty="0"/>
              <a:t>  </a:t>
            </a:r>
            <a:r>
              <a:rPr dirty="0"/>
              <a:t>manage</a:t>
            </a:r>
            <a:r>
              <a:rPr spc="-20" dirty="0"/>
              <a:t>  </a:t>
            </a:r>
            <a:r>
              <a:rPr dirty="0"/>
              <a:t>this</a:t>
            </a:r>
            <a:r>
              <a:rPr spc="-20" dirty="0"/>
              <a:t>  </a:t>
            </a:r>
            <a:r>
              <a:rPr dirty="0"/>
              <a:t>risk,</a:t>
            </a:r>
            <a:r>
              <a:rPr spc="-30" dirty="0"/>
              <a:t>  </a:t>
            </a:r>
            <a:r>
              <a:rPr dirty="0"/>
              <a:t>and</a:t>
            </a:r>
            <a:r>
              <a:rPr spc="-25" dirty="0"/>
              <a:t>  </a:t>
            </a:r>
            <a:r>
              <a:rPr dirty="0"/>
              <a:t>monitor</a:t>
            </a:r>
            <a:r>
              <a:rPr spc="-30" dirty="0"/>
              <a:t>  </a:t>
            </a:r>
            <a:r>
              <a:rPr dirty="0"/>
              <a:t>the</a:t>
            </a:r>
            <a:r>
              <a:rPr spc="-30" dirty="0"/>
              <a:t>  </a:t>
            </a:r>
            <a:r>
              <a:rPr dirty="0"/>
              <a:t>bank‟s</a:t>
            </a:r>
            <a:r>
              <a:rPr spc="-20" dirty="0"/>
              <a:t>  risk </a:t>
            </a:r>
            <a:r>
              <a:rPr spc="-10" dirty="0"/>
              <a:t>exposure.</a:t>
            </a:r>
          </a:p>
          <a:p>
            <a:pPr marL="195580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pc="-10" dirty="0"/>
              <a:t>Interest-</a:t>
            </a:r>
            <a:r>
              <a:rPr dirty="0"/>
              <a:t>rate</a:t>
            </a:r>
            <a:r>
              <a:rPr spc="-20" dirty="0"/>
              <a:t> </a:t>
            </a:r>
            <a:r>
              <a:rPr dirty="0"/>
              <a:t>risk</a:t>
            </a:r>
            <a:r>
              <a:rPr spc="20" dirty="0"/>
              <a:t> </a:t>
            </a:r>
            <a:r>
              <a:rPr dirty="0"/>
              <a:t>limits</a:t>
            </a:r>
            <a:r>
              <a:rPr spc="35" dirty="0"/>
              <a:t> </a:t>
            </a:r>
            <a:r>
              <a:rPr spc="-10" dirty="0"/>
              <a:t>includes:</a:t>
            </a:r>
          </a:p>
          <a:p>
            <a:pPr marL="469900" lvl="1" indent="-183515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Internal</a:t>
            </a:r>
            <a:r>
              <a:rPr sz="20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policies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procedures</a:t>
            </a:r>
            <a:endParaRPr sz="2000" dirty="0">
              <a:latin typeface="Arial"/>
              <a:cs typeface="Arial"/>
            </a:endParaRPr>
          </a:p>
          <a:p>
            <a:pPr marL="469900" lvl="1" indent="-183515"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Internal</a:t>
            </a:r>
            <a:r>
              <a:rPr sz="20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management</a:t>
            </a:r>
            <a:r>
              <a:rPr sz="20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monitoring</a:t>
            </a:r>
            <a:endParaRPr sz="2000" dirty="0">
              <a:latin typeface="Arial"/>
              <a:cs typeface="Arial"/>
            </a:endParaRPr>
          </a:p>
          <a:p>
            <a:pPr marL="469900" lvl="1" indent="-183515"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Implementation</a:t>
            </a:r>
            <a:r>
              <a:rPr sz="2000" spc="-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stress</a:t>
            </a:r>
            <a:r>
              <a:rPr sz="20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testing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value-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at</a:t>
            </a:r>
            <a:r>
              <a:rPr sz="20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(VaR)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1600" y="914400"/>
            <a:ext cx="5556250" cy="1205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175" indent="-372110">
              <a:spcBef>
                <a:spcPts val="100"/>
              </a:spcBef>
              <a:buAutoNum type="romanLcPeriod" startAt="6"/>
              <a:tabLst>
                <a:tab pos="384810" algn="l"/>
              </a:tabLst>
            </a:pPr>
            <a:r>
              <a:rPr sz="2400" b="1" spc="-105" dirty="0">
                <a:solidFill>
                  <a:srgbClr val="D2523B"/>
                </a:solidFill>
                <a:latin typeface="Arial"/>
                <a:cs typeface="Arial"/>
              </a:rPr>
              <a:t>Disclosure</a:t>
            </a:r>
            <a:r>
              <a:rPr sz="2400" b="1" spc="-16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D2523B"/>
                </a:solidFill>
                <a:latin typeface="Arial"/>
                <a:cs typeface="Arial"/>
              </a:rPr>
              <a:t>Requirements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25"/>
              </a:spcBef>
              <a:buClr>
                <a:srgbClr val="D2523B"/>
              </a:buClr>
              <a:buFont typeface="Arial"/>
              <a:buAutoNum type="romanLcPeriod" startAt="6"/>
            </a:pPr>
            <a:endParaRPr sz="2950" dirty="0">
              <a:latin typeface="Arial"/>
              <a:cs typeface="Arial"/>
            </a:endParaRPr>
          </a:p>
          <a:p>
            <a:pPr marL="195580" lvl="1" indent="-182880">
              <a:buClr>
                <a:srgbClr val="92A199"/>
              </a:buClr>
              <a:buSzPct val="85416"/>
              <a:buChar char="•"/>
              <a:tabLst>
                <a:tab pos="195580" algn="l"/>
                <a:tab pos="733425" algn="l"/>
                <a:tab pos="1880870" algn="l"/>
                <a:tab pos="2606675" algn="l"/>
                <a:tab pos="3600450" algn="l"/>
                <a:tab pos="5324475" algn="l"/>
              </a:tabLst>
            </a:pP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ensure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better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information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91553" y="1751352"/>
            <a:ext cx="2324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433195" algn="l"/>
                <a:tab pos="1887220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available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2819" y="1991691"/>
            <a:ext cx="34671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097405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marketplace,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regulators</a:t>
            </a:r>
            <a:endParaRPr sz="2400" dirty="0">
              <a:latin typeface="Arial"/>
              <a:cs typeface="Arial"/>
            </a:endParaRPr>
          </a:p>
          <a:p>
            <a:pPr marL="12700">
              <a:tabLst>
                <a:tab pos="1783714" algn="l"/>
                <a:tab pos="3060700" algn="l"/>
              </a:tabLst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institutions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adhere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3622" y="1991691"/>
            <a:ext cx="42570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>
              <a:spcBef>
                <a:spcPts val="100"/>
              </a:spcBef>
              <a:tabLst>
                <a:tab pos="991235" algn="l"/>
                <a:tab pos="2279015" algn="l"/>
                <a:tab pos="3123565" algn="l"/>
              </a:tabLst>
            </a:pP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require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endParaRPr sz="2400" dirty="0">
              <a:latin typeface="Arial"/>
              <a:cs typeface="Arial"/>
            </a:endParaRPr>
          </a:p>
          <a:p>
            <a:pPr marL="12700">
              <a:tabLst>
                <a:tab pos="1254760" algn="l"/>
                <a:tab pos="2769235" algn="l"/>
              </a:tabLst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certain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standard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accounting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2723516"/>
            <a:ext cx="10972800" cy="2675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6985" algn="just"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principles</a:t>
            </a:r>
            <a:r>
              <a:rPr sz="2400" spc="4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4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disclose</a:t>
            </a:r>
            <a:r>
              <a:rPr sz="2400" spc="4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400" spc="4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wide</a:t>
            </a:r>
            <a:r>
              <a:rPr sz="2400" spc="4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range</a:t>
            </a:r>
            <a:r>
              <a:rPr sz="2400" spc="4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4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information</a:t>
            </a:r>
            <a:r>
              <a:rPr sz="2400" spc="40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that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helps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market</a:t>
            </a:r>
            <a:r>
              <a:rPr sz="24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assess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quality</a:t>
            </a:r>
            <a:r>
              <a:rPr sz="24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institution‟s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portfolio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amount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its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exposure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risk.</a:t>
            </a:r>
            <a:endParaRPr sz="2400" dirty="0">
              <a:latin typeface="Arial"/>
              <a:cs typeface="Arial"/>
            </a:endParaRPr>
          </a:p>
          <a:p>
            <a:pPr marL="194945" marR="5080" indent="-182880" algn="just"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More</a:t>
            </a:r>
            <a:r>
              <a:rPr sz="2400" spc="2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2400" spc="2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information</a:t>
            </a:r>
            <a:r>
              <a:rPr sz="2400" spc="2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about</a:t>
            </a:r>
            <a:r>
              <a:rPr sz="2400" spc="2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23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risks</a:t>
            </a:r>
            <a:r>
              <a:rPr sz="2400" spc="24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incurred</a:t>
            </a:r>
            <a:r>
              <a:rPr sz="2400" spc="2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by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2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2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spc="2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quality</a:t>
            </a:r>
            <a:r>
              <a:rPr sz="2400" spc="2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2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their</a:t>
            </a:r>
            <a:r>
              <a:rPr sz="2400" spc="2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portfolios</a:t>
            </a:r>
            <a:r>
              <a:rPr sz="2400" spc="2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can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better</a:t>
            </a:r>
            <a:r>
              <a:rPr sz="2400" spc="5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enable</a:t>
            </a:r>
            <a:r>
              <a:rPr sz="2400" spc="5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stockholders,</a:t>
            </a:r>
            <a:r>
              <a:rPr sz="2400" spc="5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creditors,</a:t>
            </a:r>
            <a:r>
              <a:rPr sz="2400" spc="5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5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depositors</a:t>
            </a:r>
            <a:r>
              <a:rPr sz="2400" spc="5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evaluate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monitor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act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292934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deterrent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excessive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risk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taking.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/>
              <a:t>vii.</a:t>
            </a:r>
            <a:r>
              <a:rPr spc="-180" dirty="0"/>
              <a:t> </a:t>
            </a:r>
            <a:r>
              <a:rPr spc="-105" dirty="0"/>
              <a:t>Consumer</a:t>
            </a:r>
            <a:r>
              <a:rPr spc="-170" dirty="0"/>
              <a:t> </a:t>
            </a:r>
            <a:r>
              <a:rPr spc="-75" dirty="0"/>
              <a:t>Protection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2900" y="2057400"/>
            <a:ext cx="11506200" cy="31726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 algn="just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existence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asymmetric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information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suggests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that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consumers</a:t>
            </a:r>
            <a:r>
              <a:rPr sz="2400" spc="4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may</a:t>
            </a:r>
            <a:r>
              <a:rPr sz="2400" spc="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not</a:t>
            </a:r>
            <a:r>
              <a:rPr sz="2400" spc="4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2400" spc="4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enough</a:t>
            </a:r>
            <a:r>
              <a:rPr sz="2400" spc="4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information</a:t>
            </a:r>
            <a:r>
              <a:rPr sz="2400" spc="4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4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protect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themselves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fully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dealings.</a:t>
            </a:r>
            <a:endParaRPr sz="2400" dirty="0">
              <a:latin typeface="Arial"/>
              <a:cs typeface="Arial"/>
            </a:endParaRPr>
          </a:p>
          <a:p>
            <a:pPr marL="195580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Consumer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protection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regulation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taken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several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forms:</a:t>
            </a:r>
            <a:endParaRPr sz="2400" dirty="0">
              <a:latin typeface="Arial"/>
              <a:cs typeface="Arial"/>
            </a:endParaRPr>
          </a:p>
          <a:p>
            <a:pPr marL="469900" marR="5080" lvl="1" indent="-182880" algn="just"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Requires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sz="2000" spc="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lenders,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not</a:t>
            </a:r>
            <a:r>
              <a:rPr sz="2000" spc="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just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banks,</a:t>
            </a:r>
            <a:r>
              <a:rPr sz="20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provide</a:t>
            </a:r>
            <a:r>
              <a:rPr sz="2000" spc="5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information</a:t>
            </a:r>
            <a:r>
              <a:rPr sz="20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to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consumers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about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cost</a:t>
            </a:r>
            <a:r>
              <a:rPr sz="2000" spc="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borrowing,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including</a:t>
            </a:r>
            <a:r>
              <a:rPr sz="2000" spc="11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disclosure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of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standardized</a:t>
            </a:r>
            <a:r>
              <a:rPr sz="20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interest</a:t>
            </a:r>
            <a:r>
              <a:rPr sz="20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rate</a:t>
            </a:r>
            <a:r>
              <a:rPr sz="20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total</a:t>
            </a:r>
            <a:r>
              <a:rPr sz="2000" spc="2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finance</a:t>
            </a:r>
            <a:r>
              <a:rPr sz="20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charges</a:t>
            </a:r>
            <a:r>
              <a:rPr sz="2000" spc="2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000" spc="3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the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loan.</a:t>
            </a:r>
            <a:endParaRPr sz="2000" dirty="0">
              <a:latin typeface="Arial"/>
              <a:cs typeface="Arial"/>
            </a:endParaRPr>
          </a:p>
          <a:p>
            <a:pPr marL="469900" marR="5080" lvl="1" indent="-182880" algn="just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global</a:t>
            </a:r>
            <a:r>
              <a:rPr sz="20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crisis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illustrated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need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greater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consumer</a:t>
            </a:r>
            <a:r>
              <a:rPr sz="2000" spc="2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protection,</a:t>
            </a:r>
            <a:r>
              <a:rPr sz="2000" spc="2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2000" spc="2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2000" spc="2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many</a:t>
            </a:r>
            <a:r>
              <a:rPr sz="2000" spc="2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borrowers</a:t>
            </a:r>
            <a:r>
              <a:rPr sz="2000" spc="2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took</a:t>
            </a:r>
            <a:r>
              <a:rPr sz="2000" spc="2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out</a:t>
            </a:r>
            <a:r>
              <a:rPr sz="2000" spc="2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loans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terms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did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not</a:t>
            </a:r>
            <a:r>
              <a:rPr sz="2000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understand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were</a:t>
            </a:r>
            <a:r>
              <a:rPr sz="2000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well</a:t>
            </a:r>
            <a:r>
              <a:rPr sz="2000" spc="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beyond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their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means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repay.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5" dirty="0"/>
              <a:t>viii.</a:t>
            </a:r>
            <a:r>
              <a:rPr spc="-215" dirty="0"/>
              <a:t> </a:t>
            </a:r>
            <a:r>
              <a:rPr spc="-110" dirty="0"/>
              <a:t>Restrictions</a:t>
            </a:r>
            <a:r>
              <a:rPr spc="-195" dirty="0"/>
              <a:t> </a:t>
            </a:r>
            <a:r>
              <a:rPr spc="-50" dirty="0"/>
              <a:t>on</a:t>
            </a:r>
            <a:r>
              <a:rPr spc="-170" dirty="0"/>
              <a:t> </a:t>
            </a:r>
            <a:r>
              <a:rPr spc="-75" dirty="0"/>
              <a:t>Competition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790175"/>
            <a:ext cx="11430000" cy="400224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7620" indent="-182880" algn="just">
              <a:lnSpc>
                <a:spcPts val="2590"/>
              </a:lnSpc>
              <a:spcBef>
                <a:spcPts val="42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Increased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competition</a:t>
            </a:r>
            <a:r>
              <a:rPr sz="24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spc="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also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increase</a:t>
            </a:r>
            <a:r>
              <a:rPr sz="2400" spc="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moral</a:t>
            </a:r>
            <a:r>
              <a:rPr sz="2400" spc="2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hazard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incentives</a:t>
            </a:r>
            <a:r>
              <a:rPr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take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more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risk.</a:t>
            </a:r>
            <a:endParaRPr sz="2400" dirty="0">
              <a:latin typeface="Arial"/>
              <a:cs typeface="Arial"/>
            </a:endParaRPr>
          </a:p>
          <a:p>
            <a:pPr marL="194945" marR="5080" indent="-182880" algn="just">
              <a:lnSpc>
                <a:spcPts val="2590"/>
              </a:lnSpc>
              <a:spcBef>
                <a:spcPts val="5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Declining</a:t>
            </a:r>
            <a:r>
              <a:rPr sz="24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profitability</a:t>
            </a:r>
            <a:r>
              <a:rPr sz="2400" spc="11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resulting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24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increased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competition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could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tip</a:t>
            </a:r>
            <a:r>
              <a:rPr sz="24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incentives</a:t>
            </a:r>
            <a:r>
              <a:rPr sz="2400" spc="6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5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6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toward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assuming</a:t>
            </a:r>
            <a:r>
              <a:rPr sz="2400" spc="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greater</a:t>
            </a:r>
            <a:r>
              <a:rPr sz="2400" spc="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risk</a:t>
            </a:r>
            <a:r>
              <a:rPr sz="2400" spc="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effort</a:t>
            </a:r>
            <a:r>
              <a:rPr sz="2400" spc="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maintain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former</a:t>
            </a:r>
            <a:r>
              <a:rPr sz="24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profit levels.</a:t>
            </a:r>
            <a:endParaRPr sz="2400" dirty="0">
              <a:latin typeface="Arial"/>
              <a:cs typeface="Arial"/>
            </a:endParaRPr>
          </a:p>
          <a:p>
            <a:pPr marL="194945" marR="6350" indent="-182880" algn="just">
              <a:lnSpc>
                <a:spcPts val="2590"/>
              </a:lnSpc>
              <a:spcBef>
                <a:spcPts val="5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Thus,</a:t>
            </a:r>
            <a:r>
              <a:rPr sz="2400" spc="1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governments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1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many</a:t>
            </a:r>
            <a:r>
              <a:rPr sz="2400" spc="1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countries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2400" spc="1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instituted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regulations</a:t>
            </a:r>
            <a:r>
              <a:rPr sz="2400" spc="385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385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protect</a:t>
            </a:r>
            <a:r>
              <a:rPr sz="2400" spc="38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385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2400" spc="39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from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competition.</a:t>
            </a:r>
            <a:endParaRPr sz="2400" dirty="0">
              <a:latin typeface="Arial"/>
              <a:cs typeface="Arial"/>
            </a:endParaRPr>
          </a:p>
          <a:p>
            <a:pPr marL="1018540" marR="5080" lvl="1" indent="-182880" algn="just">
              <a:lnSpc>
                <a:spcPct val="90000"/>
              </a:lnSpc>
              <a:spcBef>
                <a:spcPts val="370"/>
              </a:spcBef>
              <a:buClr>
                <a:srgbClr val="92A199"/>
              </a:buClr>
              <a:buChar char="•"/>
              <a:tabLst>
                <a:tab pos="1019175" algn="l"/>
              </a:tabLst>
            </a:pP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These</a:t>
            </a:r>
            <a:r>
              <a:rPr sz="16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regulations</a:t>
            </a:r>
            <a:r>
              <a:rPr sz="16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took</a:t>
            </a:r>
            <a:r>
              <a:rPr sz="16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two</a:t>
            </a:r>
            <a:r>
              <a:rPr sz="16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forms</a:t>
            </a:r>
            <a:r>
              <a:rPr sz="16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16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United</a:t>
            </a:r>
            <a:r>
              <a:rPr sz="16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States</a:t>
            </a:r>
            <a:r>
              <a:rPr sz="16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16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past.</a:t>
            </a:r>
            <a:r>
              <a:rPr sz="16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First</a:t>
            </a:r>
            <a:r>
              <a:rPr sz="16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292934"/>
                </a:solidFill>
                <a:latin typeface="Arial"/>
                <a:cs typeface="Arial"/>
              </a:rPr>
              <a:t>were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restrictions</a:t>
            </a:r>
            <a:r>
              <a:rPr sz="16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1600" spc="45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branching.</a:t>
            </a:r>
            <a:r>
              <a:rPr sz="1600" spc="4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spc="4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second</a:t>
            </a:r>
            <a:r>
              <a:rPr sz="16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form</a:t>
            </a:r>
            <a:r>
              <a:rPr sz="16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involved</a:t>
            </a:r>
            <a:r>
              <a:rPr sz="16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preventing</a:t>
            </a:r>
            <a:r>
              <a:rPr sz="1600" spc="4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Arial"/>
                <a:cs typeface="Arial"/>
              </a:rPr>
              <a:t>nonbank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institutions</a:t>
            </a:r>
            <a:r>
              <a:rPr sz="16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1600" spc="1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competing</a:t>
            </a:r>
            <a:r>
              <a:rPr sz="16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1600" spc="1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banks</a:t>
            </a:r>
            <a:r>
              <a:rPr sz="16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16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preventing</a:t>
            </a:r>
            <a:r>
              <a:rPr sz="16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them</a:t>
            </a:r>
            <a:r>
              <a:rPr sz="1600" spc="1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1600" spc="1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engaging</a:t>
            </a:r>
            <a:r>
              <a:rPr sz="16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sz="1600" dirty="0">
                <a:solidFill>
                  <a:srgbClr val="292934"/>
                </a:solidFill>
                <a:latin typeface="Arial"/>
                <a:cs typeface="Arial"/>
              </a:rPr>
              <a:t>banking</a:t>
            </a:r>
            <a:r>
              <a:rPr sz="1600" spc="-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Arial"/>
                <a:cs typeface="Arial"/>
              </a:rPr>
              <a:t>business.</a:t>
            </a:r>
            <a:endParaRPr sz="1600" dirty="0">
              <a:latin typeface="Arial"/>
              <a:cs typeface="Arial"/>
            </a:endParaRPr>
          </a:p>
          <a:p>
            <a:pPr marL="194945" marR="6985" indent="-182880" algn="just">
              <a:lnSpc>
                <a:spcPts val="2590"/>
              </a:lnSpc>
              <a:spcBef>
                <a:spcPts val="59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Disadvantages</a:t>
            </a:r>
            <a:r>
              <a:rPr sz="2400" spc="305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restrictions</a:t>
            </a:r>
            <a:r>
              <a:rPr sz="2400" spc="31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on</a:t>
            </a:r>
            <a:r>
              <a:rPr sz="2400" spc="31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competition:</a:t>
            </a:r>
            <a:r>
              <a:rPr sz="2400" spc="310" dirty="0">
                <a:solidFill>
                  <a:srgbClr val="292934"/>
                </a:solidFill>
                <a:latin typeface="Arial"/>
                <a:cs typeface="Arial"/>
              </a:rPr>
              <a:t> 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Higher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consumer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charges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Decreased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efficiency.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802938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pc="-100" dirty="0"/>
              <a:t>Financial</a:t>
            </a:r>
            <a:r>
              <a:rPr spc="-195" dirty="0"/>
              <a:t> </a:t>
            </a:r>
            <a:r>
              <a:rPr spc="-100" dirty="0"/>
              <a:t>Markets</a:t>
            </a:r>
            <a:r>
              <a:rPr spc="-160" dirty="0"/>
              <a:t> </a:t>
            </a:r>
            <a:r>
              <a:rPr spc="-110" dirty="0"/>
              <a:t>Regulations</a:t>
            </a:r>
            <a:r>
              <a:rPr spc="-185" dirty="0"/>
              <a:t> </a:t>
            </a:r>
            <a:r>
              <a:rPr spc="-80" dirty="0"/>
              <a:t>and</a:t>
            </a:r>
            <a:r>
              <a:rPr spc="-160" dirty="0"/>
              <a:t> </a:t>
            </a:r>
            <a:r>
              <a:rPr spc="-25" dirty="0"/>
              <a:t>Ethics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63610" y="2057400"/>
            <a:ext cx="11699789" cy="3847207"/>
          </a:xfrm>
          <a:prstGeom prst="rect">
            <a:avLst/>
          </a:prstGeom>
        </p:spPr>
        <p:txBody>
          <a:bodyPr vert="horz" wrap="square" lIns="0" tIns="127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94945" marR="5715" indent="-182880" algn="just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The</a:t>
            </a:r>
            <a:r>
              <a:rPr spc="229" dirty="0"/>
              <a:t> </a:t>
            </a:r>
            <a:r>
              <a:rPr dirty="0">
                <a:solidFill>
                  <a:srgbClr val="FF0000"/>
                </a:solidFill>
              </a:rPr>
              <a:t>risk</a:t>
            </a:r>
            <a:r>
              <a:rPr spc="2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2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losing</a:t>
            </a:r>
            <a:r>
              <a:rPr spc="2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money</a:t>
            </a:r>
            <a:r>
              <a:rPr spc="235" dirty="0">
                <a:solidFill>
                  <a:srgbClr val="FF0000"/>
                </a:solidFill>
              </a:rPr>
              <a:t> </a:t>
            </a:r>
            <a:r>
              <a:rPr dirty="0"/>
              <a:t>that</a:t>
            </a:r>
            <a:r>
              <a:rPr spc="235" dirty="0"/>
              <a:t> </a:t>
            </a:r>
            <a:r>
              <a:rPr dirty="0"/>
              <a:t>can</a:t>
            </a:r>
            <a:r>
              <a:rPr spc="235" dirty="0"/>
              <a:t> </a:t>
            </a:r>
            <a:r>
              <a:rPr dirty="0"/>
              <a:t>arise</a:t>
            </a:r>
            <a:r>
              <a:rPr spc="229" dirty="0"/>
              <a:t> </a:t>
            </a:r>
            <a:r>
              <a:rPr dirty="0"/>
              <a:t>from</a:t>
            </a:r>
            <a:r>
              <a:rPr spc="240" dirty="0"/>
              <a:t> </a:t>
            </a:r>
            <a:r>
              <a:rPr dirty="0"/>
              <a:t>many</a:t>
            </a:r>
            <a:r>
              <a:rPr spc="229" dirty="0"/>
              <a:t> </a:t>
            </a:r>
            <a:r>
              <a:rPr spc="-10" dirty="0"/>
              <a:t>types </a:t>
            </a:r>
            <a:r>
              <a:rPr dirty="0"/>
              <a:t>of</a:t>
            </a:r>
            <a:r>
              <a:rPr spc="200" dirty="0"/>
              <a:t> </a:t>
            </a:r>
            <a:r>
              <a:rPr dirty="0">
                <a:solidFill>
                  <a:srgbClr val="FF0000"/>
                </a:solidFill>
              </a:rPr>
              <a:t>financial</a:t>
            </a:r>
            <a:r>
              <a:rPr spc="2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transactions</a:t>
            </a:r>
            <a:r>
              <a:rPr spc="225" dirty="0">
                <a:solidFill>
                  <a:srgbClr val="FF0000"/>
                </a:solidFill>
              </a:rPr>
              <a:t> </a:t>
            </a:r>
            <a:r>
              <a:rPr dirty="0"/>
              <a:t>has</a:t>
            </a:r>
            <a:r>
              <a:rPr spc="215" dirty="0"/>
              <a:t> </a:t>
            </a:r>
            <a:r>
              <a:rPr dirty="0"/>
              <a:t>meant</a:t>
            </a:r>
            <a:r>
              <a:rPr spc="215" dirty="0"/>
              <a:t> </a:t>
            </a:r>
            <a:r>
              <a:rPr dirty="0"/>
              <a:t>that</a:t>
            </a:r>
            <a:r>
              <a:rPr spc="204" dirty="0"/>
              <a:t> </a:t>
            </a:r>
            <a:r>
              <a:rPr dirty="0"/>
              <a:t>financial</a:t>
            </a:r>
            <a:r>
              <a:rPr spc="220" dirty="0"/>
              <a:t> </a:t>
            </a:r>
            <a:r>
              <a:rPr spc="-10" dirty="0"/>
              <a:t>markets </a:t>
            </a:r>
            <a:r>
              <a:rPr dirty="0"/>
              <a:t>have</a:t>
            </a:r>
            <a:r>
              <a:rPr spc="40" dirty="0"/>
              <a:t> </a:t>
            </a:r>
            <a:r>
              <a:rPr dirty="0"/>
              <a:t>always</a:t>
            </a:r>
            <a:r>
              <a:rPr spc="65" dirty="0"/>
              <a:t> </a:t>
            </a:r>
            <a:r>
              <a:rPr dirty="0"/>
              <a:t>been</a:t>
            </a:r>
            <a:r>
              <a:rPr spc="60" dirty="0"/>
              <a:t> </a:t>
            </a:r>
            <a:r>
              <a:rPr dirty="0"/>
              <a:t>subject</a:t>
            </a:r>
            <a:r>
              <a:rPr spc="5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>
                <a:solidFill>
                  <a:srgbClr val="FF0000"/>
                </a:solidFill>
              </a:rPr>
              <a:t>need</a:t>
            </a:r>
            <a:r>
              <a:rPr spc="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for</a:t>
            </a:r>
            <a:r>
              <a:rPr spc="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rules</a:t>
            </a:r>
            <a:r>
              <a:rPr spc="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6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codes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conduct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>
                <a:solidFill>
                  <a:srgbClr val="FF0000"/>
                </a:solidFill>
              </a:rPr>
              <a:t>protect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investors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/>
              <a:t>and the</a:t>
            </a:r>
            <a:r>
              <a:rPr spc="-25" dirty="0"/>
              <a:t> </a:t>
            </a:r>
            <a:r>
              <a:rPr dirty="0">
                <a:solidFill>
                  <a:srgbClr val="FF0000"/>
                </a:solidFill>
              </a:rPr>
              <a:t>general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public</a:t>
            </a:r>
            <a:r>
              <a:rPr spc="-10" dirty="0"/>
              <a:t>.</a:t>
            </a:r>
          </a:p>
          <a:p>
            <a:pPr marL="469900" marR="5080" lvl="1" indent="-182880" algn="just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markets</a:t>
            </a:r>
            <a:r>
              <a:rPr sz="20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developed,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there grew</a:t>
            </a:r>
            <a:r>
              <a:rPr sz="20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need for</a:t>
            </a:r>
            <a:r>
              <a:rPr sz="20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market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participants</a:t>
            </a:r>
            <a:r>
              <a:rPr sz="20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to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able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set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rules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there</a:t>
            </a:r>
            <a:r>
              <a:rPr sz="20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were</a:t>
            </a:r>
            <a:r>
              <a:rPr sz="2000" spc="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agreed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standards</a:t>
            </a:r>
            <a:r>
              <a:rPr sz="20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of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behavior</a:t>
            </a:r>
            <a:r>
              <a:rPr sz="20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3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provide</a:t>
            </a:r>
            <a:r>
              <a:rPr sz="20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mechanism</a:t>
            </a:r>
            <a:r>
              <a:rPr sz="2000" spc="3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20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3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disputes</a:t>
            </a:r>
            <a:r>
              <a:rPr sz="20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could</a:t>
            </a:r>
            <a:r>
              <a:rPr sz="2000" spc="3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be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settled</a:t>
            </a:r>
            <a:r>
              <a:rPr sz="20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readily.</a:t>
            </a:r>
            <a:endParaRPr sz="2000" dirty="0">
              <a:latin typeface="Arial"/>
              <a:cs typeface="Arial"/>
            </a:endParaRPr>
          </a:p>
          <a:p>
            <a:pPr marL="194945" marR="6350" indent="-182880" algn="just"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This</a:t>
            </a:r>
            <a:r>
              <a:rPr spc="340" dirty="0"/>
              <a:t>  </a:t>
            </a:r>
            <a:r>
              <a:rPr dirty="0"/>
              <a:t>need</a:t>
            </a:r>
            <a:r>
              <a:rPr spc="350" dirty="0"/>
              <a:t>  </a:t>
            </a:r>
            <a:r>
              <a:rPr dirty="0"/>
              <a:t>developed</a:t>
            </a:r>
            <a:r>
              <a:rPr spc="340" dirty="0"/>
              <a:t>  </a:t>
            </a:r>
            <a:r>
              <a:rPr dirty="0"/>
              <a:t>into</a:t>
            </a:r>
            <a:r>
              <a:rPr spc="345" dirty="0"/>
              <a:t>  </a:t>
            </a:r>
            <a:r>
              <a:rPr dirty="0"/>
              <a:t>what</a:t>
            </a:r>
            <a:r>
              <a:rPr spc="345" dirty="0"/>
              <a:t>  </a:t>
            </a:r>
            <a:r>
              <a:rPr dirty="0"/>
              <a:t>is</a:t>
            </a:r>
            <a:r>
              <a:rPr spc="340" dirty="0"/>
              <a:t>  </a:t>
            </a:r>
            <a:r>
              <a:rPr dirty="0"/>
              <a:t>known</a:t>
            </a:r>
            <a:r>
              <a:rPr spc="340" dirty="0"/>
              <a:t>  </a:t>
            </a:r>
            <a:r>
              <a:rPr dirty="0"/>
              <a:t>as</a:t>
            </a:r>
            <a:r>
              <a:rPr spc="345" dirty="0"/>
              <a:t>  </a:t>
            </a:r>
            <a:r>
              <a:rPr spc="-10" dirty="0">
                <a:solidFill>
                  <a:srgbClr val="FF0000"/>
                </a:solidFill>
              </a:rPr>
              <a:t>self- </a:t>
            </a:r>
            <a:r>
              <a:rPr dirty="0">
                <a:solidFill>
                  <a:srgbClr val="FF0000"/>
                </a:solidFill>
              </a:rPr>
              <a:t>regulation</a:t>
            </a:r>
            <a:r>
              <a:rPr dirty="0"/>
              <a:t>,</a:t>
            </a:r>
            <a:r>
              <a:rPr spc="90" dirty="0"/>
              <a:t> </a:t>
            </a:r>
            <a:r>
              <a:rPr dirty="0"/>
              <a:t>when,</a:t>
            </a:r>
            <a:r>
              <a:rPr spc="95" dirty="0"/>
              <a:t> </a:t>
            </a:r>
            <a:r>
              <a:rPr dirty="0"/>
              <a:t>for</a:t>
            </a:r>
            <a:r>
              <a:rPr spc="90" dirty="0"/>
              <a:t> </a:t>
            </a:r>
            <a:r>
              <a:rPr dirty="0"/>
              <a:t>example,</a:t>
            </a:r>
            <a:r>
              <a:rPr spc="100" dirty="0"/>
              <a:t> </a:t>
            </a:r>
            <a:r>
              <a:rPr dirty="0"/>
              <a:t>as</a:t>
            </a:r>
            <a:r>
              <a:rPr spc="90" dirty="0"/>
              <a:t> </a:t>
            </a:r>
            <a:r>
              <a:rPr dirty="0"/>
              <a:t>well</a:t>
            </a:r>
            <a:r>
              <a:rPr spc="80" dirty="0"/>
              <a:t> </a:t>
            </a:r>
            <a:r>
              <a:rPr dirty="0"/>
              <a:t>as</a:t>
            </a:r>
            <a:r>
              <a:rPr spc="90" dirty="0"/>
              <a:t> </a:t>
            </a:r>
            <a:r>
              <a:rPr dirty="0"/>
              <a:t>fulfilling</a:t>
            </a:r>
            <a:r>
              <a:rPr spc="90" dirty="0"/>
              <a:t> </a:t>
            </a:r>
            <a:r>
              <a:rPr dirty="0"/>
              <a:t>its</a:t>
            </a:r>
            <a:r>
              <a:rPr spc="90" dirty="0"/>
              <a:t> </a:t>
            </a:r>
            <a:r>
              <a:rPr spc="-20" dirty="0"/>
              <a:t>main </a:t>
            </a:r>
            <a:r>
              <a:rPr dirty="0"/>
              <a:t>function</a:t>
            </a:r>
            <a:r>
              <a:rPr spc="560" dirty="0"/>
              <a:t> </a:t>
            </a:r>
            <a:r>
              <a:rPr dirty="0"/>
              <a:t>of</a:t>
            </a:r>
            <a:r>
              <a:rPr spc="570" dirty="0"/>
              <a:t> </a:t>
            </a:r>
            <a:r>
              <a:rPr dirty="0"/>
              <a:t>providing</a:t>
            </a:r>
            <a:r>
              <a:rPr spc="570" dirty="0"/>
              <a:t> </a:t>
            </a:r>
            <a:r>
              <a:rPr dirty="0"/>
              <a:t>a</a:t>
            </a:r>
            <a:r>
              <a:rPr spc="575" dirty="0"/>
              <a:t> </a:t>
            </a:r>
            <a:r>
              <a:rPr dirty="0"/>
              <a:t>secondary</a:t>
            </a:r>
            <a:r>
              <a:rPr spc="575" dirty="0"/>
              <a:t> </a:t>
            </a:r>
            <a:r>
              <a:rPr dirty="0"/>
              <a:t>market</a:t>
            </a:r>
            <a:r>
              <a:rPr spc="550" dirty="0"/>
              <a:t> </a:t>
            </a:r>
            <a:r>
              <a:rPr dirty="0"/>
              <a:t>for</a:t>
            </a:r>
            <a:r>
              <a:rPr spc="575" dirty="0"/>
              <a:t> </a:t>
            </a:r>
            <a:r>
              <a:rPr dirty="0"/>
              <a:t>shares,</a:t>
            </a:r>
            <a:r>
              <a:rPr spc="570" dirty="0"/>
              <a:t> </a:t>
            </a:r>
            <a:r>
              <a:rPr spc="-50" dirty="0"/>
              <a:t>a </a:t>
            </a:r>
            <a:r>
              <a:rPr dirty="0"/>
              <a:t>stock</a:t>
            </a:r>
            <a:r>
              <a:rPr spc="170" dirty="0"/>
              <a:t> </a:t>
            </a:r>
            <a:r>
              <a:rPr dirty="0"/>
              <a:t>exchange</a:t>
            </a:r>
            <a:r>
              <a:rPr spc="170" dirty="0"/>
              <a:t> </a:t>
            </a:r>
            <a:r>
              <a:rPr dirty="0"/>
              <a:t>would</a:t>
            </a:r>
            <a:r>
              <a:rPr spc="180" dirty="0"/>
              <a:t> </a:t>
            </a:r>
            <a:r>
              <a:rPr dirty="0"/>
              <a:t>also</a:t>
            </a:r>
            <a:r>
              <a:rPr spc="165" dirty="0"/>
              <a:t> </a:t>
            </a:r>
            <a:r>
              <a:rPr dirty="0"/>
              <a:t>set</a:t>
            </a:r>
            <a:r>
              <a:rPr spc="165" dirty="0"/>
              <a:t> </a:t>
            </a:r>
            <a:r>
              <a:rPr dirty="0"/>
              <a:t>rules</a:t>
            </a:r>
            <a:r>
              <a:rPr spc="175" dirty="0"/>
              <a:t> </a:t>
            </a:r>
            <a:r>
              <a:rPr dirty="0"/>
              <a:t>for</a:t>
            </a:r>
            <a:r>
              <a:rPr spc="165" dirty="0"/>
              <a:t> </a:t>
            </a:r>
            <a:r>
              <a:rPr dirty="0"/>
              <a:t>its</a:t>
            </a:r>
            <a:r>
              <a:rPr spc="155" dirty="0"/>
              <a:t> </a:t>
            </a:r>
            <a:r>
              <a:rPr dirty="0"/>
              <a:t>members</a:t>
            </a:r>
            <a:r>
              <a:rPr spc="180" dirty="0"/>
              <a:t> </a:t>
            </a:r>
            <a:r>
              <a:rPr spc="-25" dirty="0"/>
              <a:t>and </a:t>
            </a:r>
            <a:r>
              <a:rPr dirty="0"/>
              <a:t>police</a:t>
            </a:r>
            <a:r>
              <a:rPr spc="-10" dirty="0"/>
              <a:t> </a:t>
            </a:r>
            <a:r>
              <a:rPr dirty="0"/>
              <a:t>their</a:t>
            </a:r>
            <a:r>
              <a:rPr spc="-10" dirty="0"/>
              <a:t> implementation.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929485"/>
            <a:ext cx="11201399" cy="17389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715" indent="-182880" algn="just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400" spc="5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5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development</a:t>
            </a:r>
            <a:r>
              <a:rPr sz="2400" spc="5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5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global</a:t>
            </a:r>
            <a:r>
              <a:rPr sz="2400" spc="5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400" spc="5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markets</a:t>
            </a:r>
            <a:r>
              <a:rPr sz="2400" spc="5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came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need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400" spc="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improved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common</a:t>
            </a:r>
            <a:r>
              <a:rPr sz="24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standards,</a:t>
            </a:r>
            <a:r>
              <a:rPr sz="2400" spc="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well</a:t>
            </a:r>
            <a:r>
              <a:rPr sz="24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as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international</a:t>
            </a:r>
            <a:r>
              <a:rPr sz="24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co-operation.</a:t>
            </a:r>
            <a:endParaRPr sz="2400" dirty="0">
              <a:latin typeface="Arial"/>
              <a:cs typeface="Arial"/>
            </a:endParaRPr>
          </a:p>
          <a:p>
            <a:pPr marL="469900" marR="5080" lvl="1" indent="-182880" algn="just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Self-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regulation</a:t>
            </a:r>
            <a:r>
              <a:rPr sz="2000" spc="1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became</a:t>
            </a:r>
            <a:r>
              <a:rPr sz="20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increasingly</a:t>
            </a:r>
            <a:r>
              <a:rPr sz="20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untenable</a:t>
            </a:r>
            <a:r>
              <a:rPr sz="20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most</a:t>
            </a:r>
            <a:r>
              <a:rPr sz="20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countries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moved</a:t>
            </a:r>
            <a:r>
              <a:rPr sz="20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statutory</a:t>
            </a:r>
            <a:r>
              <a:rPr sz="2000" spc="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approach</a:t>
            </a:r>
            <a:r>
              <a:rPr sz="2000" spc="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(that</a:t>
            </a:r>
            <a:r>
              <a:rPr sz="2000" spc="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is,</a:t>
            </a:r>
            <a:r>
              <a:rPr sz="2000" spc="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with</a:t>
            </a:r>
            <a:r>
              <a:rPr sz="20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rules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laid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down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law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so</a:t>
            </a:r>
            <a:r>
              <a:rPr sz="2000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breaking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them</a:t>
            </a:r>
            <a:r>
              <a:rPr sz="20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0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spc="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criminal</a:t>
            </a:r>
            <a:r>
              <a:rPr sz="20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offence).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000" spc="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also</a:t>
            </a:r>
            <a:r>
              <a:rPr sz="20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established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their</a:t>
            </a:r>
            <a:r>
              <a:rPr sz="20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own,</a:t>
            </a:r>
            <a:r>
              <a:rPr sz="20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independent</a:t>
            </a:r>
            <a:r>
              <a:rPr sz="2000" spc="-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regulatory</a:t>
            </a:r>
            <a:r>
              <a:rPr sz="2000" spc="-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bodies.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0" y="4077080"/>
            <a:ext cx="1770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  <a:tab pos="1077595" algn="l"/>
              </a:tabLst>
            </a:pP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need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regulatory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7470" y="4077080"/>
            <a:ext cx="62445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5590">
              <a:spcBef>
                <a:spcPts val="100"/>
              </a:spcBef>
              <a:tabLst>
                <a:tab pos="1003300" algn="l"/>
                <a:tab pos="1196975" algn="l"/>
                <a:tab pos="2042795" algn="l"/>
                <a:tab pos="2734310" algn="l"/>
                <a:tab pos="3022600" algn="l"/>
                <a:tab pos="3274060" algn="l"/>
                <a:tab pos="3984625" algn="l"/>
                <a:tab pos="5076190" algn="l"/>
                <a:tab pos="5353685" algn="l"/>
                <a:tab pos="5892800" algn="l"/>
              </a:tabLst>
            </a:pP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international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co-operation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between bodies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	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also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led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creation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2819" y="4808602"/>
            <a:ext cx="788733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1829435" algn="l"/>
                <a:tab pos="3733165" algn="l"/>
                <a:tab pos="4310380" algn="l"/>
                <a:tab pos="6144260" algn="l"/>
              </a:tabLst>
            </a:pP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international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organization,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International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Organization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Securities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Commissions</a:t>
            </a:r>
            <a:r>
              <a:rPr sz="24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(IOSCO).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2133600"/>
            <a:ext cx="11125200" cy="19389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 algn="just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IOSCO designs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objectives</a:t>
            </a:r>
            <a:r>
              <a:rPr sz="24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standards</a:t>
            </a:r>
            <a:r>
              <a:rPr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used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by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world‟s</a:t>
            </a:r>
            <a:r>
              <a:rPr sz="2400" spc="229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regulators</a:t>
            </a:r>
            <a:r>
              <a:rPr sz="24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international</a:t>
            </a:r>
            <a:r>
              <a:rPr sz="24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benchmarks</a:t>
            </a:r>
            <a:r>
              <a:rPr sz="2400" spc="2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400" spc="20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all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securities</a:t>
            </a:r>
            <a:r>
              <a:rPr sz="2400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markets.</a:t>
            </a:r>
            <a:endParaRPr sz="2400" dirty="0">
              <a:latin typeface="Arial"/>
              <a:cs typeface="Arial"/>
            </a:endParaRPr>
          </a:p>
          <a:p>
            <a:pPr marL="194945" marR="5715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Today</a:t>
            </a:r>
            <a:r>
              <a:rPr sz="2400" spc="1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there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400" spc="1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spc="1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significant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level</a:t>
            </a:r>
            <a:r>
              <a:rPr sz="2400" spc="1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1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co-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operation</a:t>
            </a:r>
            <a:r>
              <a:rPr sz="2400" spc="1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between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4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services</a:t>
            </a:r>
            <a:r>
              <a:rPr sz="24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regulators</a:t>
            </a:r>
            <a:r>
              <a:rPr sz="2400" spc="3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worldwide</a:t>
            </a:r>
            <a:r>
              <a:rPr sz="2400" spc="3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and,</a:t>
            </a:r>
            <a:r>
              <a:rPr sz="24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increasingly,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4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imposing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common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standards.</a:t>
            </a:r>
            <a:endParaRPr sz="2400" dirty="0">
              <a:latin typeface="Arial"/>
              <a:cs typeface="Arial"/>
            </a:endParaRPr>
          </a:p>
          <a:p>
            <a:pPr marL="469900" lvl="1" indent="-183515" algn="just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Anti-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money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laundering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rules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are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probably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best</a:t>
            </a:r>
            <a:r>
              <a:rPr sz="2000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example.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85800" y="1905000"/>
            <a:ext cx="10668000" cy="3180358"/>
          </a:xfrm>
          <a:prstGeom prst="rect">
            <a:avLst/>
          </a:prstGeom>
        </p:spPr>
        <p:txBody>
          <a:bodyPr vert="horz" wrap="square" lIns="0" tIns="127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94945" marR="6350" indent="-182880"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The</a:t>
            </a:r>
            <a:r>
              <a:rPr spc="165" dirty="0"/>
              <a:t> </a:t>
            </a:r>
            <a:r>
              <a:rPr dirty="0"/>
              <a:t>main</a:t>
            </a:r>
            <a:r>
              <a:rPr spc="165" dirty="0"/>
              <a:t> </a:t>
            </a:r>
            <a:r>
              <a:rPr dirty="0">
                <a:solidFill>
                  <a:srgbClr val="FF0000"/>
                </a:solidFill>
              </a:rPr>
              <a:t>purposes</a:t>
            </a:r>
            <a:r>
              <a:rPr spc="17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17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aims</a:t>
            </a:r>
            <a:r>
              <a:rPr spc="1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spc="1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regulation</a:t>
            </a:r>
            <a:r>
              <a:rPr dirty="0"/>
              <a:t>,</a:t>
            </a:r>
            <a:r>
              <a:rPr spc="165" dirty="0"/>
              <a:t> </a:t>
            </a:r>
            <a:r>
              <a:rPr dirty="0"/>
              <a:t>in</a:t>
            </a:r>
            <a:r>
              <a:rPr spc="170" dirty="0"/>
              <a:t> </a:t>
            </a:r>
            <a:r>
              <a:rPr dirty="0"/>
              <a:t>all</a:t>
            </a:r>
            <a:r>
              <a:rPr spc="175" dirty="0"/>
              <a:t> </a:t>
            </a:r>
            <a:r>
              <a:rPr spc="-10" dirty="0"/>
              <a:t>markets globally,</a:t>
            </a:r>
            <a:r>
              <a:rPr spc="-40" dirty="0"/>
              <a:t> </a:t>
            </a:r>
            <a:r>
              <a:rPr dirty="0"/>
              <a:t>are</a:t>
            </a:r>
            <a:r>
              <a:rPr spc="-75" dirty="0"/>
              <a:t> </a:t>
            </a:r>
            <a:r>
              <a:rPr spc="-25" dirty="0"/>
              <a:t>to:</a:t>
            </a:r>
          </a:p>
          <a:p>
            <a:pPr marL="469900" marR="5080" lvl="1" indent="-182880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  <a:tab pos="1694814" algn="l"/>
                <a:tab pos="2382520" algn="l"/>
                <a:tab pos="3576320" algn="l"/>
                <a:tab pos="4798695" algn="l"/>
                <a:tab pos="6168390" algn="l"/>
              </a:tabLst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Maintain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promote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fairness,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efficiency,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competitiveness,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transparency</a:t>
            </a:r>
            <a:r>
              <a:rPr sz="2000" spc="-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orderliness</a:t>
            </a:r>
            <a:endParaRPr sz="2000" dirty="0">
              <a:latin typeface="Arial"/>
              <a:cs typeface="Arial"/>
            </a:endParaRPr>
          </a:p>
          <a:p>
            <a:pPr marL="469900" marR="5715" lvl="1" indent="-182880"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  <a:tab pos="1640205" algn="l"/>
                <a:tab pos="3460115" algn="l"/>
                <a:tab pos="3940175" algn="l"/>
                <a:tab pos="4504055" algn="l"/>
                <a:tab pos="5380990" algn="l"/>
                <a:tab pos="5802630" algn="l"/>
                <a:tab pos="6366510" algn="l"/>
                <a:tab pos="7636509" algn="l"/>
              </a:tabLst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Promote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understanding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operation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and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functioning</a:t>
            </a:r>
            <a:r>
              <a:rPr sz="20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services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sector</a:t>
            </a:r>
            <a:endParaRPr sz="2000" dirty="0">
              <a:latin typeface="Arial"/>
              <a:cs typeface="Arial"/>
            </a:endParaRPr>
          </a:p>
          <a:p>
            <a:pPr marL="469900" lvl="1" indent="-183515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Provide</a:t>
            </a:r>
            <a:r>
              <a:rPr sz="2000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protection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members</a:t>
            </a:r>
            <a:r>
              <a:rPr sz="20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investing</a:t>
            </a:r>
            <a:r>
              <a:rPr sz="2000" spc="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000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2000" spc="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holding</a:t>
            </a:r>
            <a:r>
              <a:rPr lang="en-GB" sz="20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/>
              <a:t>financial</a:t>
            </a:r>
            <a:r>
              <a:rPr sz="2000" spc="-20" dirty="0"/>
              <a:t> </a:t>
            </a:r>
            <a:r>
              <a:rPr sz="2000" spc="-10" dirty="0"/>
              <a:t>products</a:t>
            </a:r>
            <a:endParaRPr sz="2000" dirty="0"/>
          </a:p>
          <a:p>
            <a:pPr marL="469900" marR="6350" lvl="1" indent="-182880"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  <a:tab pos="1605280" algn="l"/>
                <a:tab pos="2357755" algn="l"/>
                <a:tab pos="2914650" algn="l"/>
                <a:tab pos="4328795" algn="l"/>
                <a:tab pos="4658360" algn="l"/>
                <a:tab pos="5142865" algn="l"/>
                <a:tab pos="6163945" algn="l"/>
                <a:tab pos="7072630" algn="l"/>
              </a:tabLst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Minimize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crime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misconduct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industry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reduce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systemic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risks,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 and</a:t>
            </a:r>
            <a:endParaRPr sz="2000" dirty="0">
              <a:latin typeface="Arial"/>
              <a:cs typeface="Arial"/>
            </a:endParaRPr>
          </a:p>
          <a:p>
            <a:pPr marL="469900" marR="6350" lvl="1" indent="-182880"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  <a:tab pos="1321435" algn="l"/>
                <a:tab pos="1692275" algn="l"/>
                <a:tab pos="3164840" algn="l"/>
                <a:tab pos="3688715" algn="l"/>
                <a:tab pos="4817110" algn="l"/>
                <a:tab pos="5922010" algn="l"/>
                <a:tab pos="6939915" algn="l"/>
                <a:tab pos="7380605" algn="l"/>
              </a:tabLst>
            </a:pP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Assist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maintaining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market‟s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stability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taking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appropriate</a:t>
            </a:r>
            <a:r>
              <a:rPr sz="2000" spc="-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steps.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5" dirty="0"/>
              <a:t>Examples</a:t>
            </a:r>
            <a:r>
              <a:rPr spc="-170" dirty="0"/>
              <a:t> </a:t>
            </a:r>
            <a:r>
              <a:rPr spc="-50" dirty="0"/>
              <a:t>of</a:t>
            </a:r>
            <a:r>
              <a:rPr spc="-175" dirty="0"/>
              <a:t> </a:t>
            </a:r>
            <a:r>
              <a:rPr spc="-105" dirty="0"/>
              <a:t>Regulators</a:t>
            </a:r>
            <a:r>
              <a:rPr spc="-180" dirty="0"/>
              <a:t> </a:t>
            </a:r>
            <a:r>
              <a:rPr spc="-70" dirty="0"/>
              <a:t>Worldwide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45543"/>
            <a:ext cx="11353800" cy="490513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2090000"/>
            <a:ext cx="11201400" cy="40538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766185" algn="just">
              <a:spcBef>
                <a:spcPts val="95"/>
              </a:spcBef>
            </a:pP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Ethical</a:t>
            </a:r>
            <a:r>
              <a:rPr sz="22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Issues</a:t>
            </a:r>
            <a:r>
              <a:rPr sz="22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2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Financial</a:t>
            </a:r>
            <a:r>
              <a:rPr sz="22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Markets </a:t>
            </a:r>
            <a:endParaRPr lang="en-GB" sz="2200" spc="-1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 marR="3766185" algn="just">
              <a:spcBef>
                <a:spcPts val="95"/>
              </a:spcBef>
            </a:pP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Money</a:t>
            </a:r>
            <a:r>
              <a:rPr sz="22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Laundering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:</a:t>
            </a:r>
            <a:endParaRPr sz="2200" dirty="0">
              <a:latin typeface="Arial"/>
              <a:cs typeface="Arial"/>
            </a:endParaRPr>
          </a:p>
          <a:p>
            <a:pPr marL="194945" marR="5080" indent="-182880" algn="just">
              <a:lnSpc>
                <a:spcPts val="2110"/>
              </a:lnSpc>
              <a:spcBef>
                <a:spcPts val="51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Money</a:t>
            </a:r>
            <a:r>
              <a:rPr sz="2200" spc="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laundering</a:t>
            </a:r>
            <a:r>
              <a:rPr sz="22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200" spc="4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2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process</a:t>
            </a:r>
            <a:r>
              <a:rPr sz="22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2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turning</a:t>
            </a:r>
            <a:r>
              <a:rPr sz="22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money</a:t>
            </a:r>
            <a:r>
              <a:rPr sz="2200" spc="3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200" spc="4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is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derived</a:t>
            </a:r>
            <a:r>
              <a:rPr sz="2200" spc="-3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2200" spc="5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criminal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activities</a:t>
            </a:r>
            <a:r>
              <a:rPr sz="2200" spc="5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–</a:t>
            </a:r>
            <a:r>
              <a:rPr sz="22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dirty</a:t>
            </a:r>
            <a:r>
              <a:rPr sz="2200" spc="-3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money</a:t>
            </a:r>
            <a:r>
              <a:rPr sz="2200" spc="5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–</a:t>
            </a:r>
            <a:r>
              <a:rPr sz="22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into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money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sz="22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appears</a:t>
            </a:r>
            <a:r>
              <a:rPr sz="22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2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have</a:t>
            </a:r>
            <a:r>
              <a:rPr sz="2200" spc="3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been</a:t>
            </a:r>
            <a:r>
              <a:rPr sz="2200"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legitimately</a:t>
            </a:r>
            <a:r>
              <a:rPr sz="22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acquired</a:t>
            </a:r>
            <a:r>
              <a:rPr sz="2200" spc="3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200"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which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2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therefore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2200" spc="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more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easily</a:t>
            </a:r>
            <a:r>
              <a:rPr sz="22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invested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200" spc="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spent</a:t>
            </a:r>
            <a:r>
              <a:rPr sz="2200" spc="7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–</a:t>
            </a:r>
            <a:r>
              <a:rPr sz="2200" spc="6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clean money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12700" algn="just">
              <a:spcBef>
                <a:spcPts val="25"/>
              </a:spcBef>
            </a:pP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Insider</a:t>
            </a:r>
            <a:r>
              <a:rPr sz="2200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Trading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:</a:t>
            </a:r>
            <a:endParaRPr sz="2200" dirty="0">
              <a:latin typeface="Arial"/>
              <a:cs typeface="Arial"/>
            </a:endParaRPr>
          </a:p>
          <a:p>
            <a:pPr marL="194945" marR="5715" indent="-182880" algn="just">
              <a:lnSpc>
                <a:spcPts val="2110"/>
              </a:lnSpc>
              <a:spcBef>
                <a:spcPts val="51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When</a:t>
            </a:r>
            <a:r>
              <a:rPr sz="2200" spc="25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directors</a:t>
            </a:r>
            <a:r>
              <a:rPr sz="2200" spc="2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2200" spc="2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employees</a:t>
            </a:r>
            <a:r>
              <a:rPr sz="2200" spc="2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200" spc="2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200" spc="2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listed</a:t>
            </a:r>
            <a:r>
              <a:rPr sz="2200" spc="2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company</a:t>
            </a:r>
            <a:r>
              <a:rPr sz="2200" spc="25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buy</a:t>
            </a:r>
            <a:r>
              <a:rPr sz="2200" spc="2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2200" spc="25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sell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shares</a:t>
            </a:r>
            <a:r>
              <a:rPr sz="2200" spc="5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200" spc="5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200" spc="5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company,</a:t>
            </a:r>
            <a:r>
              <a:rPr sz="22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there</a:t>
            </a:r>
            <a:r>
              <a:rPr sz="22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22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200" spc="5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possibility</a:t>
            </a:r>
            <a:r>
              <a:rPr sz="22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z="22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they</a:t>
            </a:r>
            <a:r>
              <a:rPr sz="2200" spc="5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292934"/>
                </a:solidFill>
                <a:latin typeface="Arial"/>
                <a:cs typeface="Arial"/>
              </a:rPr>
              <a:t>are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committing</a:t>
            </a:r>
            <a:r>
              <a:rPr sz="22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200" spc="-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criminal</a:t>
            </a:r>
            <a:r>
              <a:rPr sz="22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act</a:t>
            </a:r>
            <a:r>
              <a:rPr sz="2200" spc="-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–</a:t>
            </a:r>
            <a:r>
              <a:rPr sz="2200" spc="-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92934"/>
                </a:solidFill>
                <a:latin typeface="Arial"/>
                <a:cs typeface="Arial"/>
              </a:rPr>
              <a:t>insider</a:t>
            </a:r>
            <a:r>
              <a:rPr sz="2200" spc="-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"/>
                <a:cs typeface="Arial"/>
              </a:rPr>
              <a:t>dealing.</a:t>
            </a:r>
            <a:endParaRPr sz="2200" dirty="0">
              <a:latin typeface="Arial"/>
              <a:cs typeface="Arial"/>
            </a:endParaRPr>
          </a:p>
          <a:p>
            <a:pPr marL="469900" marR="5715" lvl="1" indent="-182880" algn="just">
              <a:lnSpc>
                <a:spcPct val="80000"/>
              </a:lnSpc>
              <a:spcBef>
                <a:spcPts val="490"/>
              </a:spcBef>
              <a:buClr>
                <a:srgbClr val="92A199"/>
              </a:buClr>
              <a:buSzPct val="84210"/>
              <a:buChar char="•"/>
              <a:tabLst>
                <a:tab pos="469900" algn="l"/>
              </a:tabLst>
            </a:pP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z="19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example,</a:t>
            </a:r>
            <a:r>
              <a:rPr sz="19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director</a:t>
            </a:r>
            <a:r>
              <a:rPr sz="19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may</a:t>
            </a:r>
            <a:r>
              <a:rPr sz="19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1900" spc="1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buying</a:t>
            </a:r>
            <a:r>
              <a:rPr sz="1900" spc="2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shares</a:t>
            </a:r>
            <a:r>
              <a:rPr sz="19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1900" spc="1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19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knowledge</a:t>
            </a:r>
            <a:r>
              <a:rPr sz="1900" spc="19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Arial"/>
                <a:cs typeface="Arial"/>
              </a:rPr>
              <a:t>that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company‟s</a:t>
            </a:r>
            <a:r>
              <a:rPr sz="19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last</a:t>
            </a:r>
            <a:r>
              <a:rPr sz="19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six</a:t>
            </a:r>
            <a:r>
              <a:rPr sz="1900" spc="3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months</a:t>
            </a:r>
            <a:r>
              <a:rPr sz="19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19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trade</a:t>
            </a:r>
            <a:r>
              <a:rPr sz="1900" spc="3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was</a:t>
            </a:r>
            <a:r>
              <a:rPr sz="1900" spc="3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better</a:t>
            </a:r>
            <a:r>
              <a:rPr sz="1900" spc="3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than</a:t>
            </a:r>
            <a:r>
              <a:rPr sz="1900" spc="3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3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market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expected.</a:t>
            </a:r>
            <a:r>
              <a:rPr sz="19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1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director</a:t>
            </a:r>
            <a:r>
              <a:rPr sz="19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has</a:t>
            </a:r>
            <a:r>
              <a:rPr sz="19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benefit</a:t>
            </a:r>
            <a:r>
              <a:rPr sz="19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19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19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information</a:t>
            </a:r>
            <a:r>
              <a:rPr sz="19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because</a:t>
            </a:r>
            <a:r>
              <a:rPr sz="1900" spc="1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92934"/>
                </a:solidFill>
                <a:latin typeface="Arial"/>
                <a:cs typeface="Arial"/>
              </a:rPr>
              <a:t>he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292934"/>
                </a:solidFill>
                <a:latin typeface="Arial"/>
                <a:cs typeface="Arial"/>
              </a:rPr>
              <a:t>„inside‟</a:t>
            </a:r>
            <a:r>
              <a:rPr sz="1900" spc="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company.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nearly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markets,</a:t>
            </a:r>
            <a:r>
              <a:rPr sz="1900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this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would</a:t>
            </a:r>
            <a:r>
              <a:rPr sz="1900" spc="10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be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10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criminal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offence,</a:t>
            </a:r>
            <a:r>
              <a:rPr sz="19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punishable</a:t>
            </a:r>
            <a:r>
              <a:rPr sz="19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1900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fine</a:t>
            </a:r>
            <a:r>
              <a:rPr sz="19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and/or</a:t>
            </a:r>
            <a:r>
              <a:rPr sz="1900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900" spc="-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92934"/>
                </a:solidFill>
                <a:latin typeface="Arial"/>
                <a:cs typeface="Arial"/>
              </a:rPr>
              <a:t>jail</a:t>
            </a:r>
            <a:r>
              <a:rPr sz="19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"/>
                <a:cs typeface="Arial"/>
              </a:rPr>
              <a:t>term.</a:t>
            </a:r>
            <a:endParaRPr sz="1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233" y="1065576"/>
            <a:ext cx="10668000" cy="455253"/>
          </a:xfrm>
          <a:prstGeom prst="rect">
            <a:avLst/>
          </a:prstGeom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80" dirty="0"/>
              <a:t>Cont’d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2057400"/>
            <a:ext cx="11506200" cy="39209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algn="just">
              <a:spcBef>
                <a:spcPts val="675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Market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Abuse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194945" marR="5080" indent="-182880" algn="just"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Market</a:t>
            </a:r>
            <a:r>
              <a:rPr sz="2400" spc="1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abuse</a:t>
            </a:r>
            <a:r>
              <a:rPr sz="2400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may</a:t>
            </a:r>
            <a:r>
              <a:rPr sz="24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arise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2400" spc="1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circumstances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where</a:t>
            </a:r>
            <a:r>
              <a:rPr sz="2400" spc="1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investors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been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unreasonably</a:t>
            </a:r>
            <a:r>
              <a:rPr sz="24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disadvantaged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directly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indirectly,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by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others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who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behave</a:t>
            </a:r>
            <a:r>
              <a:rPr sz="2400" spc="-2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unlawfully.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Certain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types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z="2400" spc="-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behavior,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such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insider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dealing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and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market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manipulation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amount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"/>
                <a:cs typeface="Arial"/>
              </a:rPr>
              <a:t>market</a:t>
            </a:r>
            <a:r>
              <a:rPr sz="2400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"/>
                <a:cs typeface="Arial"/>
              </a:rPr>
              <a:t>abuse.</a:t>
            </a:r>
            <a:endParaRPr sz="2400" dirty="0">
              <a:latin typeface="Arial"/>
              <a:cs typeface="Arial"/>
            </a:endParaRPr>
          </a:p>
          <a:p>
            <a:pPr marL="469900" lvl="1" indent="-183515" algn="just"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Market</a:t>
            </a:r>
            <a:r>
              <a:rPr sz="2000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Arial"/>
                <a:cs typeface="Arial"/>
              </a:rPr>
              <a:t>manipulation</a:t>
            </a:r>
            <a:r>
              <a:rPr sz="2000" spc="-10" dirty="0">
                <a:solidFill>
                  <a:srgbClr val="292934"/>
                </a:solidFill>
                <a:latin typeface="Arial"/>
                <a:cs typeface="Arial"/>
              </a:rPr>
              <a:t> include:</a:t>
            </a:r>
            <a:endParaRPr sz="2000" dirty="0">
              <a:latin typeface="Arial"/>
              <a:cs typeface="Arial"/>
            </a:endParaRPr>
          </a:p>
          <a:p>
            <a:pPr marL="744220" marR="5080" lvl="2" indent="-182880" algn="just">
              <a:spcBef>
                <a:spcPts val="440"/>
              </a:spcBef>
              <a:buClr>
                <a:srgbClr val="92A199"/>
              </a:buClr>
              <a:buSzPct val="88888"/>
              <a:buChar char="•"/>
              <a:tabLst>
                <a:tab pos="744855" algn="l"/>
              </a:tabLst>
            </a:pP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Giving</a:t>
            </a:r>
            <a:r>
              <a:rPr spc="2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false</a:t>
            </a:r>
            <a:r>
              <a:rPr spc="2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pc="27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misleading</a:t>
            </a:r>
            <a:r>
              <a:rPr spc="2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signals</a:t>
            </a:r>
            <a:r>
              <a:rPr spc="2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about</a:t>
            </a:r>
            <a:r>
              <a:rPr spc="2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pc="254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supply</a:t>
            </a:r>
            <a:r>
              <a:rPr spc="2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of,</a:t>
            </a:r>
            <a:r>
              <a:rPr spc="26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demand</a:t>
            </a:r>
            <a:r>
              <a:rPr spc="2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for</a:t>
            </a:r>
            <a:r>
              <a:rPr spc="2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292934"/>
                </a:solidFill>
                <a:latin typeface="Arial"/>
                <a:cs typeface="Arial"/>
              </a:rPr>
              <a:t>or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price</a:t>
            </a:r>
            <a:r>
              <a:rPr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financial</a:t>
            </a:r>
            <a:r>
              <a:rPr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292934"/>
                </a:solidFill>
                <a:latin typeface="Arial"/>
                <a:cs typeface="Arial"/>
              </a:rPr>
              <a:t>instrument</a:t>
            </a:r>
            <a:endParaRPr dirty="0">
              <a:latin typeface="Arial"/>
              <a:cs typeface="Arial"/>
            </a:endParaRPr>
          </a:p>
          <a:p>
            <a:pPr marL="744220" lvl="2" indent="-183515" algn="just">
              <a:spcBef>
                <a:spcPts val="430"/>
              </a:spcBef>
              <a:buClr>
                <a:srgbClr val="92A199"/>
              </a:buClr>
              <a:buSzPct val="88888"/>
              <a:buChar char="•"/>
              <a:tabLst>
                <a:tab pos="744855" algn="l"/>
              </a:tabLst>
            </a:pP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Using</a:t>
            </a:r>
            <a:r>
              <a:rPr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fictitious</a:t>
            </a:r>
            <a:r>
              <a:rPr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devices</a:t>
            </a:r>
            <a:r>
              <a:rPr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other</a:t>
            </a:r>
            <a:r>
              <a:rPr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deception</a:t>
            </a:r>
            <a:r>
              <a:rPr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contrivance</a:t>
            </a:r>
            <a:r>
              <a:rPr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that</a:t>
            </a:r>
            <a:r>
              <a:rPr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likely</a:t>
            </a:r>
            <a:r>
              <a:rPr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endParaRPr dirty="0">
              <a:latin typeface="Arial"/>
              <a:cs typeface="Arial"/>
            </a:endParaRPr>
          </a:p>
          <a:p>
            <a:pPr marL="744220" algn="just">
              <a:spcBef>
                <a:spcPts val="5"/>
              </a:spcBef>
            </a:pP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affect</a:t>
            </a:r>
            <a:r>
              <a:rPr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price</a:t>
            </a:r>
            <a:r>
              <a:rPr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spc="-10" dirty="0">
                <a:solidFill>
                  <a:srgbClr val="292934"/>
                </a:solidFill>
                <a:latin typeface="Arial"/>
                <a:cs typeface="Arial"/>
              </a:rPr>
              <a:t>instruments</a:t>
            </a:r>
            <a:endParaRPr dirty="0">
              <a:latin typeface="Arial"/>
              <a:cs typeface="Arial"/>
            </a:endParaRPr>
          </a:p>
          <a:p>
            <a:pPr marL="744220" marR="5080" lvl="2" indent="-182880" algn="just">
              <a:spcBef>
                <a:spcPts val="430"/>
              </a:spcBef>
              <a:buClr>
                <a:srgbClr val="92A199"/>
              </a:buClr>
              <a:buSzPct val="88888"/>
              <a:buChar char="•"/>
              <a:tabLst>
                <a:tab pos="744855" algn="l"/>
              </a:tabLst>
            </a:pP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Disseminating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information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which</a:t>
            </a:r>
            <a:r>
              <a:rPr spc="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gives,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is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likely</a:t>
            </a:r>
            <a:r>
              <a:rPr spc="1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give,</a:t>
            </a:r>
            <a:r>
              <a:rPr spc="2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false</a:t>
            </a:r>
            <a:r>
              <a:rPr spc="1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pc="-25" dirty="0">
                <a:solidFill>
                  <a:srgbClr val="292934"/>
                </a:solidFill>
                <a:latin typeface="Arial"/>
                <a:cs typeface="Arial"/>
              </a:rPr>
              <a:t>or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misleading</a:t>
            </a:r>
            <a:r>
              <a:rPr spc="27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signals</a:t>
            </a:r>
            <a:r>
              <a:rPr spc="2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as</a:t>
            </a:r>
            <a:r>
              <a:rPr spc="2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to</a:t>
            </a:r>
            <a:r>
              <a:rPr spc="2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supply,</a:t>
            </a:r>
            <a:r>
              <a:rPr spc="285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demand</a:t>
            </a:r>
            <a:r>
              <a:rPr spc="2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or</a:t>
            </a:r>
            <a:r>
              <a:rPr spc="2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price</a:t>
            </a:r>
            <a:r>
              <a:rPr spc="29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of</a:t>
            </a:r>
            <a:r>
              <a:rPr spc="280" dirty="0">
                <a:solidFill>
                  <a:srgbClr val="292934"/>
                </a:solidFill>
                <a:latin typeface="Arial"/>
                <a:cs typeface="Arial"/>
              </a:rPr>
              <a:t>  </a:t>
            </a:r>
            <a:r>
              <a:rPr spc="-10" dirty="0">
                <a:solidFill>
                  <a:srgbClr val="292934"/>
                </a:solidFill>
                <a:latin typeface="Arial"/>
                <a:cs typeface="Arial"/>
              </a:rPr>
              <a:t>financial </a:t>
            </a:r>
            <a:r>
              <a:rPr dirty="0">
                <a:solidFill>
                  <a:srgbClr val="292934"/>
                </a:solidFill>
                <a:latin typeface="Arial"/>
                <a:cs typeface="Arial"/>
              </a:rPr>
              <a:t>instruments,</a:t>
            </a:r>
            <a:r>
              <a:rPr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292934"/>
                </a:solidFill>
                <a:latin typeface="Arial"/>
                <a:cs typeface="Arial"/>
              </a:rPr>
              <a:t>etc.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695C9-B101-0C5E-9784-D95B75D3F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i="1" dirty="0"/>
              <a:t>   </a:t>
            </a:r>
          </a:p>
          <a:p>
            <a:pPr marL="0" indent="0">
              <a:buNone/>
            </a:pPr>
            <a:endParaRPr lang="en-GB" b="1" i="1" dirty="0"/>
          </a:p>
          <a:p>
            <a:pPr marL="0" indent="0">
              <a:buNone/>
            </a:pPr>
            <a:endParaRPr lang="en-GB" b="1" i="1" dirty="0"/>
          </a:p>
          <a:p>
            <a:pPr marL="0" indent="0">
              <a:buNone/>
            </a:pPr>
            <a:endParaRPr lang="en-GB" b="1" i="1" dirty="0"/>
          </a:p>
          <a:p>
            <a:pPr marL="0" indent="0">
              <a:buNone/>
            </a:pPr>
            <a:r>
              <a:rPr lang="en-GB" b="1" i="1" dirty="0"/>
              <a:t>					The End!</a:t>
            </a:r>
          </a:p>
        </p:txBody>
      </p:sp>
    </p:spTree>
    <p:extLst>
      <p:ext uri="{BB962C8B-B14F-4D97-AF65-F5344CB8AC3E}">
        <p14:creationId xmlns:p14="http://schemas.microsoft.com/office/powerpoint/2010/main" val="3276424708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4 Interest rates in the Financial System</Template>
  <TotalTime>3615</TotalTime>
  <Words>4293</Words>
  <Application>Microsoft Office PowerPoint</Application>
  <PresentationFormat>Widescreen</PresentationFormat>
  <Paragraphs>251</Paragraphs>
  <Slides>41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Verdana</vt:lpstr>
      <vt:lpstr>Wingdings</vt:lpstr>
      <vt:lpstr>Profile</vt:lpstr>
      <vt:lpstr>Chapter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Government Safety Net</vt:lpstr>
      <vt:lpstr>PowerPoint Presentation</vt:lpstr>
      <vt:lpstr>Cont’d</vt:lpstr>
      <vt:lpstr>Cont’d</vt:lpstr>
      <vt:lpstr>Cont’d</vt:lpstr>
      <vt:lpstr>Cont’d</vt:lpstr>
      <vt:lpstr>PowerPoint Presentation</vt:lpstr>
      <vt:lpstr>Cont’d</vt:lpstr>
      <vt:lpstr>Cont’d</vt:lpstr>
      <vt:lpstr>Cont’d</vt:lpstr>
      <vt:lpstr>Cont’d</vt:lpstr>
      <vt:lpstr>Cont’d</vt:lpstr>
      <vt:lpstr>PowerPoint Presentation</vt:lpstr>
      <vt:lpstr>PowerPoint Presentation</vt:lpstr>
      <vt:lpstr>Cont’d</vt:lpstr>
      <vt:lpstr>ii. Capital Requirements</vt:lpstr>
      <vt:lpstr>Cont’d</vt:lpstr>
      <vt:lpstr>Cont’d</vt:lpstr>
      <vt:lpstr>iii. Prompt Corrective Action</vt:lpstr>
      <vt:lpstr>iv. Chartering and Examination</vt:lpstr>
      <vt:lpstr>Cont’d</vt:lpstr>
      <vt:lpstr>PowerPoint Presentation</vt:lpstr>
      <vt:lpstr>Cont’d</vt:lpstr>
      <vt:lpstr>Cont’d</vt:lpstr>
      <vt:lpstr>PowerPoint Presentation</vt:lpstr>
      <vt:lpstr>vii. Consumer Protection</vt:lpstr>
      <vt:lpstr>viii. Restrictions on Competition</vt:lpstr>
      <vt:lpstr>Financial Markets Regulations and Ethics</vt:lpstr>
      <vt:lpstr>Cont’d</vt:lpstr>
      <vt:lpstr>Cont’d</vt:lpstr>
      <vt:lpstr>Cont’d</vt:lpstr>
      <vt:lpstr>Examples of Regulators Worldwide</vt:lpstr>
      <vt:lpstr>Cont’d</vt:lpstr>
      <vt:lpstr>Cont’d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System In Developing Countries (FE 608)</dc:title>
  <dc:creator>Jemberu</dc:creator>
  <cp:lastModifiedBy>Asamnew Techan Demeke</cp:lastModifiedBy>
  <cp:revision>31</cp:revision>
  <dcterms:created xsi:type="dcterms:W3CDTF">2023-01-08T15:55:07Z</dcterms:created>
  <dcterms:modified xsi:type="dcterms:W3CDTF">2024-12-12T08:17:44Z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2021-07-01T00:00:00Z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2023-01-08T00:00:00Z</vt:filetime>
  </property>
  <property fmtid="{D5CDD505-2E9C-101B-9397-08002B2CF9AE}" pid="5" name="Producer">
    <vt:lpwstr>Microsoft® PowerPoint® 2010</vt:lpwstr>
  </property>
</Properties>
</file>